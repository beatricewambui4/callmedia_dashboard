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91" autoAdjust="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6EAB9-86AE-7C98-3374-45B4BBD4DB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6C85E4-DF95-3333-B623-0C15AC8196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9FAD99-1663-9C33-1EDD-541E7A386DA4}"/>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5" name="Footer Placeholder 4">
            <a:extLst>
              <a:ext uri="{FF2B5EF4-FFF2-40B4-BE49-F238E27FC236}">
                <a16:creationId xmlns:a16="http://schemas.microsoft.com/office/drawing/2014/main" id="{C3934540-A48B-61C3-D833-2FECEA9EA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1AB39-3A2A-D13B-D6AC-B30F2C192E65}"/>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3445036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E0755-22B8-C4EC-859C-29072D7FE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CEEE06-BC89-6A2E-6A45-466A98DBCB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DE191E-6B64-5A60-1187-7CC59A3ACFFE}"/>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5" name="Footer Placeholder 4">
            <a:extLst>
              <a:ext uri="{FF2B5EF4-FFF2-40B4-BE49-F238E27FC236}">
                <a16:creationId xmlns:a16="http://schemas.microsoft.com/office/drawing/2014/main" id="{B2BE3801-45CD-FFEC-4E3D-6BF6E8FB56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742126-BFE5-D1E5-5C0B-020FA33305C6}"/>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2454934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1F020-9398-84AC-F2A1-3C2ED0C377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81A535-CC1A-9915-3A89-3DFC1ABDF0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AF5017-8C2B-65A9-4A9A-FF1448FD311E}"/>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5" name="Footer Placeholder 4">
            <a:extLst>
              <a:ext uri="{FF2B5EF4-FFF2-40B4-BE49-F238E27FC236}">
                <a16:creationId xmlns:a16="http://schemas.microsoft.com/office/drawing/2014/main" id="{996627A6-9A7C-2BAD-22C6-88BD33856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0BC136-3F5B-F918-7979-94F527F3F1FA}"/>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2054334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EE808-63C1-BC46-3424-980BD0D088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CC86C5-7CAE-972B-5DCE-498EF2B42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022C54-26CF-93F0-4A0A-45918EBEDB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92E1D9-1FB5-6F1F-A39C-49AEE9F46649}"/>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6" name="Footer Placeholder 5">
            <a:extLst>
              <a:ext uri="{FF2B5EF4-FFF2-40B4-BE49-F238E27FC236}">
                <a16:creationId xmlns:a16="http://schemas.microsoft.com/office/drawing/2014/main" id="{AE3C4962-64B8-0746-CD2F-56D236C44E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19A1E8-651B-D72E-83BC-419865E76FD1}"/>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177646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9970-D24B-10B7-F624-3F7A2E519F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42E9EB-2068-2CBE-4B5D-337808339C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4FE989-BDEF-C971-8E63-9E4255403E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3889F8-0CC4-A8C1-BAFF-0A7BCAAFF2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D92150-F503-477C-CD18-4419391128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D373AB-2799-8ECE-E10E-B52D356C32B7}"/>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8" name="Footer Placeholder 7">
            <a:extLst>
              <a:ext uri="{FF2B5EF4-FFF2-40B4-BE49-F238E27FC236}">
                <a16:creationId xmlns:a16="http://schemas.microsoft.com/office/drawing/2014/main" id="{6B44ADCE-7340-F0AF-7D80-2C62F22C56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DA266E-C97B-892C-A049-3C1666EF2ECA}"/>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2224348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FA190-D183-82AB-6289-2DACF6A51E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AC1A93-E376-387D-6DFA-7B986144CB97}"/>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4" name="Footer Placeholder 3">
            <a:extLst>
              <a:ext uri="{FF2B5EF4-FFF2-40B4-BE49-F238E27FC236}">
                <a16:creationId xmlns:a16="http://schemas.microsoft.com/office/drawing/2014/main" id="{ABAEE93B-A375-CD63-7B7D-67FF7FA90B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B519CD-210A-99A1-0843-4A093D7D7D4D}"/>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1285684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FE0D0E-60DD-0820-0908-10D833995C6C}"/>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3" name="Footer Placeholder 2">
            <a:extLst>
              <a:ext uri="{FF2B5EF4-FFF2-40B4-BE49-F238E27FC236}">
                <a16:creationId xmlns:a16="http://schemas.microsoft.com/office/drawing/2014/main" id="{7285A9B2-F571-76E5-77D0-A966B05558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CED9BF-CBD6-2D51-3134-45F4D9ECBC23}"/>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411445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2BB1-1A9D-C428-C5D6-0E4B20DCBF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712FC7-BBCC-28C4-CB4F-780E27D9F7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1FB3EF-9DCC-FE67-BCDD-15B5CFF4D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C15F5-6A78-563F-810C-F55BB00133EE}"/>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6" name="Footer Placeholder 5">
            <a:extLst>
              <a:ext uri="{FF2B5EF4-FFF2-40B4-BE49-F238E27FC236}">
                <a16:creationId xmlns:a16="http://schemas.microsoft.com/office/drawing/2014/main" id="{91349D92-D9F4-94E3-9C95-DA5F2B0EC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4DA7A8-EA75-39C5-377F-7C3B0577FCF2}"/>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124522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67B18-B1DC-3C02-B0FF-8CF0521680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75CDA3-5E93-07B2-F4DA-B6E329BBF1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AB8601-0DC3-3D69-09B6-15BF67FAA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8B69B4-9736-6198-335C-2144B3D24B4F}"/>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6" name="Footer Placeholder 5">
            <a:extLst>
              <a:ext uri="{FF2B5EF4-FFF2-40B4-BE49-F238E27FC236}">
                <a16:creationId xmlns:a16="http://schemas.microsoft.com/office/drawing/2014/main" id="{151BF1E2-1F79-E737-FACE-0F9DFF2A8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894F0F-90D6-DBC6-841D-2576EEB7C6DC}"/>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341033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5CBD0-F287-059C-99EA-A697D447BA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E21FB5-02DD-4F29-1B7C-7A8F538B66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360449-832E-3E16-9B0F-65ED6B6CF4E9}"/>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5" name="Footer Placeholder 4">
            <a:extLst>
              <a:ext uri="{FF2B5EF4-FFF2-40B4-BE49-F238E27FC236}">
                <a16:creationId xmlns:a16="http://schemas.microsoft.com/office/drawing/2014/main" id="{FA0B6392-E86E-2A27-5C4A-07752BB53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FC6BD-3DE6-CCAC-7D2F-06797E921436}"/>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255741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D161CC-4FDE-4C74-0AA0-6DC47320B7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8E8FD4-5245-B41E-C411-65A6862E2C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4B616-8075-61A7-6161-5639199340DF}"/>
              </a:ext>
            </a:extLst>
          </p:cNvPr>
          <p:cNvSpPr>
            <a:spLocks noGrp="1"/>
          </p:cNvSpPr>
          <p:nvPr>
            <p:ph type="dt" sz="half" idx="10"/>
          </p:nvPr>
        </p:nvSpPr>
        <p:spPr/>
        <p:txBody>
          <a:bodyPr/>
          <a:lstStyle/>
          <a:p>
            <a:fld id="{608EDCCA-DFD3-4628-B3BB-C8961BD87358}" type="datetimeFigureOut">
              <a:rPr lang="en-US" smtClean="0"/>
              <a:t>3/28/2026</a:t>
            </a:fld>
            <a:endParaRPr lang="en-US"/>
          </a:p>
        </p:txBody>
      </p:sp>
      <p:sp>
        <p:nvSpPr>
          <p:cNvPr id="5" name="Footer Placeholder 4">
            <a:extLst>
              <a:ext uri="{FF2B5EF4-FFF2-40B4-BE49-F238E27FC236}">
                <a16:creationId xmlns:a16="http://schemas.microsoft.com/office/drawing/2014/main" id="{8E331629-0106-28C1-3628-163F5F6C54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9081B-F633-2CF6-B3B0-41FB86D01BFB}"/>
              </a:ext>
            </a:extLst>
          </p:cNvPr>
          <p:cNvSpPr>
            <a:spLocks noGrp="1"/>
          </p:cNvSpPr>
          <p:nvPr>
            <p:ph type="sldNum" sz="quarter" idx="12"/>
          </p:nvPr>
        </p:nvSpPr>
        <p:spPr/>
        <p:txBody>
          <a:bodyPr/>
          <a:lstStyle/>
          <a:p>
            <a:fld id="{E9221A60-BA70-415B-B25E-E85EA8184622}" type="slidenum">
              <a:rPr lang="en-US" smtClean="0"/>
              <a:t>‹#›</a:t>
            </a:fld>
            <a:endParaRPr lang="en-US"/>
          </a:p>
        </p:txBody>
      </p:sp>
    </p:spTree>
    <p:extLst>
      <p:ext uri="{BB962C8B-B14F-4D97-AF65-F5344CB8AC3E}">
        <p14:creationId xmlns:p14="http://schemas.microsoft.com/office/powerpoint/2010/main" val="1539568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B1CCCC-9FE3-5C37-0781-11D3499CD4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D4F32C-4B76-8F3B-705E-A6731974CB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073632-5354-B2AB-C93F-0CE23D29F7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8EDCCA-DFD3-4628-B3BB-C8961BD87358}" type="datetimeFigureOut">
              <a:rPr lang="en-US" smtClean="0"/>
              <a:t>3/28/2026</a:t>
            </a:fld>
            <a:endParaRPr lang="en-US"/>
          </a:p>
        </p:txBody>
      </p:sp>
      <p:sp>
        <p:nvSpPr>
          <p:cNvPr id="5" name="Footer Placeholder 4">
            <a:extLst>
              <a:ext uri="{FF2B5EF4-FFF2-40B4-BE49-F238E27FC236}">
                <a16:creationId xmlns:a16="http://schemas.microsoft.com/office/drawing/2014/main" id="{F43161FD-5DF0-43C3-1722-FE3E3AB590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05202D-3ECF-9559-DAB0-EB97B35149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21A60-BA70-415B-B25E-E85EA8184622}" type="slidenum">
              <a:rPr lang="en-US" smtClean="0"/>
              <a:t>‹#›</a:t>
            </a:fld>
            <a:endParaRPr lang="en-US"/>
          </a:p>
        </p:txBody>
      </p:sp>
    </p:spTree>
    <p:extLst>
      <p:ext uri="{BB962C8B-B14F-4D97-AF65-F5344CB8AC3E}">
        <p14:creationId xmlns:p14="http://schemas.microsoft.com/office/powerpoint/2010/main" val="2940059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5A9CD-7B28-3B43-039D-B569B9887E3A}"/>
              </a:ext>
            </a:extLst>
          </p:cNvPr>
          <p:cNvSpPr>
            <a:spLocks noGrp="1"/>
          </p:cNvSpPr>
          <p:nvPr>
            <p:ph type="ctrTitle"/>
          </p:nvPr>
        </p:nvSpPr>
        <p:spPr/>
        <p:txBody>
          <a:bodyPr/>
          <a:lstStyle/>
          <a:p>
            <a:r>
              <a:rPr lang="en-US" dirty="0">
                <a:solidFill>
                  <a:schemeClr val="bg1"/>
                </a:solidFill>
                <a:highlight>
                  <a:srgbClr val="009900"/>
                </a:highlight>
              </a:rPr>
              <a:t>CALL CENTRE </a:t>
            </a:r>
          </a:p>
        </p:txBody>
      </p:sp>
      <p:sp>
        <p:nvSpPr>
          <p:cNvPr id="3" name="Subtitle 2">
            <a:extLst>
              <a:ext uri="{FF2B5EF4-FFF2-40B4-BE49-F238E27FC236}">
                <a16:creationId xmlns:a16="http://schemas.microsoft.com/office/drawing/2014/main" id="{7244836A-2186-6862-C0C5-ABF3D61BB2F8}"/>
              </a:ext>
            </a:extLst>
          </p:cNvPr>
          <p:cNvSpPr>
            <a:spLocks noGrp="1"/>
          </p:cNvSpPr>
          <p:nvPr>
            <p:ph type="subTitle" idx="1"/>
          </p:nvPr>
        </p:nvSpPr>
        <p:spPr/>
        <p:txBody>
          <a:bodyPr/>
          <a:lstStyle/>
          <a:p>
            <a:r>
              <a:rPr lang="en-US" dirty="0">
                <a:solidFill>
                  <a:schemeClr val="bg1">
                    <a:lumMod val="95000"/>
                  </a:schemeClr>
                </a:solidFill>
                <a:highlight>
                  <a:srgbClr val="009900"/>
                </a:highlight>
              </a:rPr>
              <a:t>SQL Analysis Report New York City 311 Call Centre — Operational Intelligence Report Date: March 28, 2026</a:t>
            </a:r>
          </a:p>
        </p:txBody>
      </p:sp>
    </p:spTree>
    <p:extLst>
      <p:ext uri="{BB962C8B-B14F-4D97-AF65-F5344CB8AC3E}">
        <p14:creationId xmlns:p14="http://schemas.microsoft.com/office/powerpoint/2010/main" val="4280576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93A6-55A7-E7A0-A19F-839583045C82}"/>
              </a:ext>
            </a:extLst>
          </p:cNvPr>
          <p:cNvSpPr>
            <a:spLocks noGrp="1"/>
          </p:cNvSpPr>
          <p:nvPr>
            <p:ph type="title"/>
          </p:nvPr>
        </p:nvSpPr>
        <p:spPr/>
        <p:txBody>
          <a:bodyPr/>
          <a:lstStyle/>
          <a:p>
            <a:r>
              <a:rPr lang="en-US" dirty="0">
                <a:solidFill>
                  <a:schemeClr val="bg1"/>
                </a:solidFill>
                <a:highlight>
                  <a:srgbClr val="009900"/>
                </a:highlight>
              </a:rPr>
              <a:t>Executive Summary</a:t>
            </a:r>
          </a:p>
        </p:txBody>
      </p:sp>
      <p:sp>
        <p:nvSpPr>
          <p:cNvPr id="3" name="Content Placeholder 2">
            <a:extLst>
              <a:ext uri="{FF2B5EF4-FFF2-40B4-BE49-F238E27FC236}">
                <a16:creationId xmlns:a16="http://schemas.microsoft.com/office/drawing/2014/main" id="{973542CE-2A4B-846C-E43A-ACE9E591F0C5}"/>
              </a:ext>
            </a:extLst>
          </p:cNvPr>
          <p:cNvSpPr>
            <a:spLocks noGrp="1"/>
          </p:cNvSpPr>
          <p:nvPr>
            <p:ph idx="1"/>
          </p:nvPr>
        </p:nvSpPr>
        <p:spPr/>
        <p:txBody>
          <a:bodyPr>
            <a:normAutofit fontScale="85000" lnSpcReduction="20000"/>
          </a:bodyPr>
          <a:lstStyle/>
          <a:p>
            <a:r>
              <a:rPr lang="en-US" dirty="0"/>
              <a:t>This report presents a comprehensive analysis of call </a:t>
            </a:r>
            <a:r>
              <a:rPr lang="en-US" dirty="0" err="1"/>
              <a:t>centre</a:t>
            </a:r>
            <a:r>
              <a:rPr lang="en-US" dirty="0"/>
              <a:t> operations for New York City's 311 service, based on a structured SQL investigation of the operational dataset. The analysis covers total call volumes, agency performance, traffic patterns by day, month and hour, and call resolution outcomes. The findings are intended to support operational decision-making, resource planning, and service improvement for a general audience.</a:t>
            </a:r>
          </a:p>
          <a:p>
            <a:pPr marL="0" indent="0">
              <a:buNone/>
            </a:pPr>
            <a:r>
              <a:rPr lang="en-US" b="1" dirty="0"/>
              <a:t>Key highlights from the analysis include: </a:t>
            </a:r>
          </a:p>
          <a:p>
            <a:pPr lvl="1"/>
            <a:r>
              <a:rPr lang="en-US" dirty="0"/>
              <a:t>Over 3.29 million calls were handled across the period under review. </a:t>
            </a:r>
          </a:p>
          <a:p>
            <a:pPr lvl="1"/>
            <a:r>
              <a:rPr lang="en-US" dirty="0"/>
              <a:t>181 agencies were served through the 311 call </a:t>
            </a:r>
            <a:r>
              <a:rPr lang="en-US" dirty="0" err="1"/>
              <a:t>centre</a:t>
            </a:r>
            <a:r>
              <a:rPr lang="en-US" dirty="0"/>
              <a:t>. </a:t>
            </a:r>
          </a:p>
          <a:p>
            <a:pPr lvl="1"/>
            <a:r>
              <a:rPr lang="en-US" dirty="0"/>
              <a:t>The Department of Finance (DOF) was the busiest agency with 450,822 calls. </a:t>
            </a:r>
          </a:p>
          <a:p>
            <a:pPr lvl="1"/>
            <a:r>
              <a:rPr lang="en-US" dirty="0"/>
              <a:t> Monday is the peak call day; Sunday is the quietest. </a:t>
            </a:r>
          </a:p>
          <a:p>
            <a:pPr lvl="1"/>
            <a:r>
              <a:rPr lang="en-US" dirty="0"/>
              <a:t>The 11:00 AM hour accounts for the highest call volume (8.97% of all calls). </a:t>
            </a:r>
          </a:p>
          <a:p>
            <a:pPr lvl="1"/>
            <a:r>
              <a:rPr lang="en-US" dirty="0"/>
              <a:t>52.74% of calls were fully resolved; only 0.56% were unresolved.  </a:t>
            </a:r>
          </a:p>
          <a:p>
            <a:pPr lvl="1"/>
            <a:r>
              <a:rPr lang="en-US" dirty="0"/>
              <a:t>Several agencies show very high rates of Unknown/Other resolution, warranting further review.</a:t>
            </a:r>
            <a:endParaRPr lang="en-US" b="1" dirty="0"/>
          </a:p>
        </p:txBody>
      </p:sp>
    </p:spTree>
    <p:extLst>
      <p:ext uri="{BB962C8B-B14F-4D97-AF65-F5344CB8AC3E}">
        <p14:creationId xmlns:p14="http://schemas.microsoft.com/office/powerpoint/2010/main" val="352181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EE94-EC07-126A-99EB-796DBB60C6B1}"/>
              </a:ext>
            </a:extLst>
          </p:cNvPr>
          <p:cNvSpPr>
            <a:spLocks noGrp="1"/>
          </p:cNvSpPr>
          <p:nvPr>
            <p:ph type="title"/>
          </p:nvPr>
        </p:nvSpPr>
        <p:spPr/>
        <p:txBody>
          <a:bodyPr/>
          <a:lstStyle/>
          <a:p>
            <a:pPr algn="ctr"/>
            <a:r>
              <a:rPr lang="en-US" dirty="0">
                <a:solidFill>
                  <a:schemeClr val="bg1"/>
                </a:solidFill>
                <a:highlight>
                  <a:srgbClr val="009900"/>
                </a:highlight>
              </a:rPr>
              <a:t>Key Performance Indicators</a:t>
            </a:r>
          </a:p>
        </p:txBody>
      </p:sp>
      <p:graphicFrame>
        <p:nvGraphicFramePr>
          <p:cNvPr id="4" name="Content Placeholder 3">
            <a:extLst>
              <a:ext uri="{FF2B5EF4-FFF2-40B4-BE49-F238E27FC236}">
                <a16:creationId xmlns:a16="http://schemas.microsoft.com/office/drawing/2014/main" id="{F2B61856-A801-D4E4-1A7A-8F6530A94422}"/>
              </a:ext>
            </a:extLst>
          </p:cNvPr>
          <p:cNvGraphicFramePr>
            <a:graphicFrameLocks noGrp="1"/>
          </p:cNvGraphicFramePr>
          <p:nvPr>
            <p:ph idx="1"/>
            <p:extLst>
              <p:ext uri="{D42A27DB-BD31-4B8C-83A1-F6EECF244321}">
                <p14:modId xmlns:p14="http://schemas.microsoft.com/office/powerpoint/2010/main" val="3296590152"/>
              </p:ext>
            </p:extLst>
          </p:nvPr>
        </p:nvGraphicFramePr>
        <p:xfrm>
          <a:off x="838200" y="1825624"/>
          <a:ext cx="10515600" cy="207112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708564190"/>
                    </a:ext>
                  </a:extLst>
                </a:gridCol>
                <a:gridCol w="5257800">
                  <a:extLst>
                    <a:ext uri="{9D8B030D-6E8A-4147-A177-3AD203B41FA5}">
                      <a16:colId xmlns:a16="http://schemas.microsoft.com/office/drawing/2014/main" val="2410654635"/>
                    </a:ext>
                  </a:extLst>
                </a:gridCol>
              </a:tblGrid>
              <a:tr h="2071127">
                <a:tc>
                  <a:txBody>
                    <a:bodyPr/>
                    <a:lstStyle/>
                    <a:p>
                      <a:pPr algn="ctr"/>
                      <a:r>
                        <a:rPr lang="en-US" dirty="0"/>
                        <a:t>TOTAL CALLS        </a:t>
                      </a:r>
                    </a:p>
                    <a:p>
                      <a:pPr algn="ctr"/>
                      <a:endParaRPr lang="en-US" dirty="0"/>
                    </a:p>
                    <a:p>
                      <a:pPr algn="ctr"/>
                      <a:r>
                        <a:rPr lang="en-US" sz="3600" dirty="0">
                          <a:solidFill>
                            <a:schemeClr val="accent4"/>
                          </a:solidFill>
                        </a:rPr>
                        <a:t>3,296,882</a:t>
                      </a:r>
                    </a:p>
                    <a:p>
                      <a:pPr algn="ctr"/>
                      <a:endParaRPr lang="en-US" sz="1200" dirty="0">
                        <a:solidFill>
                          <a:schemeClr val="accent4"/>
                        </a:solidFill>
                      </a:endParaRPr>
                    </a:p>
                    <a:p>
                      <a:pPr algn="ctr"/>
                      <a:endParaRPr lang="en-US" sz="1200" dirty="0">
                        <a:solidFill>
                          <a:schemeClr val="accent4"/>
                        </a:solidFill>
                      </a:endParaRPr>
                    </a:p>
                    <a:p>
                      <a:pPr algn="ctr"/>
                      <a:endParaRPr lang="en-US" sz="1200" dirty="0">
                        <a:solidFill>
                          <a:schemeClr val="accent4"/>
                        </a:solidFill>
                      </a:endParaRPr>
                    </a:p>
                    <a:p>
                      <a:pPr algn="ctr"/>
                      <a:r>
                        <a:rPr lang="en-US" sz="1200" dirty="0">
                          <a:solidFill>
                            <a:schemeClr val="bg1"/>
                          </a:solidFill>
                        </a:rPr>
                        <a:t>Total Calls Recorded in the data set</a:t>
                      </a:r>
                    </a:p>
                  </a:txBody>
                  <a:tcPr/>
                </a:tc>
                <a:tc>
                  <a:txBody>
                    <a:bodyPr/>
                    <a:lstStyle/>
                    <a:p>
                      <a:pPr algn="ctr"/>
                      <a:r>
                        <a:rPr lang="en-US" dirty="0"/>
                        <a:t>TOTAL AGENCIES</a:t>
                      </a:r>
                    </a:p>
                    <a:p>
                      <a:pPr algn="ctr"/>
                      <a:endParaRPr lang="en-US" dirty="0"/>
                    </a:p>
                    <a:p>
                      <a:pPr algn="ctr"/>
                      <a:r>
                        <a:rPr lang="en-US" sz="3600" dirty="0">
                          <a:solidFill>
                            <a:schemeClr val="accent4"/>
                          </a:solidFill>
                        </a:rPr>
                        <a:t>181 </a:t>
                      </a:r>
                    </a:p>
                    <a:p>
                      <a:pPr algn="ctr"/>
                      <a:endParaRPr lang="en-US" sz="1200" dirty="0">
                        <a:solidFill>
                          <a:schemeClr val="accent4"/>
                        </a:solidFill>
                      </a:endParaRPr>
                    </a:p>
                    <a:p>
                      <a:pPr algn="ctr"/>
                      <a:endParaRPr lang="en-US" sz="1200" dirty="0">
                        <a:solidFill>
                          <a:schemeClr val="accent4"/>
                        </a:solidFill>
                      </a:endParaRPr>
                    </a:p>
                    <a:p>
                      <a:pPr algn="ctr"/>
                      <a:endParaRPr lang="en-US" sz="1200" dirty="0">
                        <a:solidFill>
                          <a:schemeClr val="accent4"/>
                        </a:solidFill>
                      </a:endParaRPr>
                    </a:p>
                    <a:p>
                      <a:pPr algn="ctr"/>
                      <a:r>
                        <a:rPr lang="en-US" sz="1200" dirty="0">
                          <a:solidFill>
                            <a:schemeClr val="bg1"/>
                          </a:solidFill>
                        </a:rPr>
                        <a:t>Distinct Agencies involved</a:t>
                      </a:r>
                    </a:p>
                  </a:txBody>
                  <a:tcPr/>
                </a:tc>
                <a:extLst>
                  <a:ext uri="{0D108BD9-81ED-4DB2-BD59-A6C34878D82A}">
                    <a16:rowId xmlns:a16="http://schemas.microsoft.com/office/drawing/2014/main" val="1683138608"/>
                  </a:ext>
                </a:extLst>
              </a:tr>
            </a:tbl>
          </a:graphicData>
        </a:graphic>
      </p:graphicFrame>
      <p:pic>
        <p:nvPicPr>
          <p:cNvPr id="5" name="Picture 4">
            <a:extLst>
              <a:ext uri="{FF2B5EF4-FFF2-40B4-BE49-F238E27FC236}">
                <a16:creationId xmlns:a16="http://schemas.microsoft.com/office/drawing/2014/main" id="{0E182257-8557-C8D5-DB56-E533E032C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4899" y="4230564"/>
            <a:ext cx="2470492" cy="1644235"/>
          </a:xfrm>
          <a:prstGeom prst="rect">
            <a:avLst/>
          </a:prstGeom>
        </p:spPr>
      </p:pic>
      <p:pic>
        <p:nvPicPr>
          <p:cNvPr id="6" name="Picture 5">
            <a:extLst>
              <a:ext uri="{FF2B5EF4-FFF2-40B4-BE49-F238E27FC236}">
                <a16:creationId xmlns:a16="http://schemas.microsoft.com/office/drawing/2014/main" id="{60B21775-2ABA-F7B6-3DD6-44A34CD9B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096" y="4230565"/>
            <a:ext cx="2372017" cy="1644236"/>
          </a:xfrm>
          <a:prstGeom prst="rect">
            <a:avLst/>
          </a:prstGeom>
        </p:spPr>
      </p:pic>
    </p:spTree>
    <p:extLst>
      <p:ext uri="{BB962C8B-B14F-4D97-AF65-F5344CB8AC3E}">
        <p14:creationId xmlns:p14="http://schemas.microsoft.com/office/powerpoint/2010/main" val="2667819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345A0-B6D5-F418-7C48-0517738EB776}"/>
              </a:ext>
            </a:extLst>
          </p:cNvPr>
          <p:cNvSpPr>
            <a:spLocks noGrp="1"/>
          </p:cNvSpPr>
          <p:nvPr>
            <p:ph type="title"/>
          </p:nvPr>
        </p:nvSpPr>
        <p:spPr>
          <a:xfrm>
            <a:off x="838200" y="365125"/>
            <a:ext cx="10515600" cy="844697"/>
          </a:xfrm>
        </p:spPr>
        <p:txBody>
          <a:bodyPr>
            <a:normAutofit fontScale="90000"/>
          </a:bodyPr>
          <a:lstStyle/>
          <a:p>
            <a:pPr algn="ctr"/>
            <a:r>
              <a:rPr lang="en-US" dirty="0">
                <a:solidFill>
                  <a:schemeClr val="bg1"/>
                </a:solidFill>
                <a:highlight>
                  <a:srgbClr val="009900"/>
                </a:highlight>
              </a:rPr>
              <a:t>Agency Performance — Top 10 Busiest Agencies</a:t>
            </a:r>
          </a:p>
        </p:txBody>
      </p:sp>
      <p:sp>
        <p:nvSpPr>
          <p:cNvPr id="3" name="Content Placeholder 2">
            <a:extLst>
              <a:ext uri="{FF2B5EF4-FFF2-40B4-BE49-F238E27FC236}">
                <a16:creationId xmlns:a16="http://schemas.microsoft.com/office/drawing/2014/main" id="{6FD8C2F1-0C86-A7E5-D896-12C02DBA0BAD}"/>
              </a:ext>
            </a:extLst>
          </p:cNvPr>
          <p:cNvSpPr>
            <a:spLocks noGrp="1"/>
          </p:cNvSpPr>
          <p:nvPr>
            <p:ph idx="1"/>
          </p:nvPr>
        </p:nvSpPr>
        <p:spPr>
          <a:xfrm>
            <a:off x="838200" y="1209822"/>
            <a:ext cx="10515600" cy="4967141"/>
          </a:xfrm>
        </p:spPr>
        <p:txBody>
          <a:bodyPr>
            <a:normAutofit/>
          </a:bodyPr>
          <a:lstStyle/>
          <a:p>
            <a:r>
              <a:rPr lang="en-US" sz="1400" dirty="0"/>
              <a:t>The table below ranks the ten agencies that received the highest number of calls. The Department of Finance (DOF) leads significantly, followed by the NYPD and the city-wide 3-1-1 line</a:t>
            </a:r>
          </a:p>
          <a:p>
            <a:r>
              <a:rPr lang="en-US" sz="1400" dirty="0"/>
              <a:t>The DOF alone accounts for a disproportionately large share of total calls, suggesting high public demand for financial services and enquiries. The presence of 3-1-1 as a standalone entry reflects the volume of general enquiries that are not routed to a specific agency.</a:t>
            </a:r>
          </a:p>
        </p:txBody>
      </p:sp>
      <p:graphicFrame>
        <p:nvGraphicFramePr>
          <p:cNvPr id="4" name="Table 3">
            <a:extLst>
              <a:ext uri="{FF2B5EF4-FFF2-40B4-BE49-F238E27FC236}">
                <a16:creationId xmlns:a16="http://schemas.microsoft.com/office/drawing/2014/main" id="{DEEC4CC3-B7BA-0A91-60EC-D6B852F60F33}"/>
              </a:ext>
            </a:extLst>
          </p:cNvPr>
          <p:cNvGraphicFramePr>
            <a:graphicFrameLocks noGrp="1"/>
          </p:cNvGraphicFramePr>
          <p:nvPr>
            <p:extLst>
              <p:ext uri="{D42A27DB-BD31-4B8C-83A1-F6EECF244321}">
                <p14:modId xmlns:p14="http://schemas.microsoft.com/office/powerpoint/2010/main" val="2462882187"/>
              </p:ext>
            </p:extLst>
          </p:nvPr>
        </p:nvGraphicFramePr>
        <p:xfrm>
          <a:off x="1863188" y="2267112"/>
          <a:ext cx="7956063" cy="4389120"/>
        </p:xfrm>
        <a:graphic>
          <a:graphicData uri="http://schemas.openxmlformats.org/drawingml/2006/table">
            <a:tbl>
              <a:tblPr firstRow="1" bandRow="1">
                <a:tableStyleId>{5C22544A-7EE6-4342-B048-85BDC9FD1C3A}</a:tableStyleId>
              </a:tblPr>
              <a:tblGrid>
                <a:gridCol w="2652021">
                  <a:extLst>
                    <a:ext uri="{9D8B030D-6E8A-4147-A177-3AD203B41FA5}">
                      <a16:colId xmlns:a16="http://schemas.microsoft.com/office/drawing/2014/main" val="2624639417"/>
                    </a:ext>
                  </a:extLst>
                </a:gridCol>
                <a:gridCol w="2652021">
                  <a:extLst>
                    <a:ext uri="{9D8B030D-6E8A-4147-A177-3AD203B41FA5}">
                      <a16:colId xmlns:a16="http://schemas.microsoft.com/office/drawing/2014/main" val="1267351868"/>
                    </a:ext>
                  </a:extLst>
                </a:gridCol>
                <a:gridCol w="2652021">
                  <a:extLst>
                    <a:ext uri="{9D8B030D-6E8A-4147-A177-3AD203B41FA5}">
                      <a16:colId xmlns:a16="http://schemas.microsoft.com/office/drawing/2014/main" val="4000495414"/>
                    </a:ext>
                  </a:extLst>
                </a:gridCol>
              </a:tblGrid>
              <a:tr h="313620">
                <a:tc>
                  <a:txBody>
                    <a:bodyPr/>
                    <a:lstStyle/>
                    <a:p>
                      <a:pPr algn="ctr"/>
                      <a:r>
                        <a:rPr lang="en-US" dirty="0"/>
                        <a:t>Rank</a:t>
                      </a:r>
                    </a:p>
                  </a:txBody>
                  <a:tcPr/>
                </a:tc>
                <a:tc>
                  <a:txBody>
                    <a:bodyPr/>
                    <a:lstStyle/>
                    <a:p>
                      <a:pPr marL="0" marR="0" indent="0" algn="ctr">
                        <a:lnSpc>
                          <a:spcPct val="107000"/>
                        </a:lnSpc>
                        <a:spcAft>
                          <a:spcPts val="265"/>
                        </a:spcAft>
                        <a:buNone/>
                      </a:pPr>
                      <a:r>
                        <a:rPr lang="en-US" sz="1000" b="1" kern="100" dirty="0">
                          <a:solidFill>
                            <a:srgbClr val="FFFFFF"/>
                          </a:solidFill>
                          <a:effectLst/>
                          <a:latin typeface="Arial" panose="020B0604020202020204" pitchFamily="34" charset="0"/>
                          <a:ea typeface="Arial" panose="020B0604020202020204" pitchFamily="34" charset="0"/>
                          <a:cs typeface="Times New Roman" panose="02020603050405020304" pitchFamily="18" charset="0"/>
                        </a:rPr>
                        <a:t>Agency Code</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Calls Per Agency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79059960"/>
                  </a:ext>
                </a:extLst>
              </a:tr>
              <a:tr h="313620">
                <a:tc>
                  <a:txBody>
                    <a:bodyPr/>
                    <a:lstStyle/>
                    <a:p>
                      <a:r>
                        <a:rPr lang="en-US" dirty="0"/>
                        <a:t>1</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DOF</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450,822</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958447614"/>
                  </a:ext>
                </a:extLst>
              </a:tr>
              <a:tr h="313620">
                <a:tc>
                  <a:txBody>
                    <a:bodyPr/>
                    <a:lstStyle/>
                    <a:p>
                      <a:r>
                        <a:rPr lang="en-US" dirty="0"/>
                        <a:t>2</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NYPD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402,658</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2869042619"/>
                  </a:ext>
                </a:extLst>
              </a:tr>
              <a:tr h="313620">
                <a:tc>
                  <a:txBody>
                    <a:bodyPr/>
                    <a:lstStyle/>
                    <a:p>
                      <a:r>
                        <a:rPr lang="en-US" dirty="0"/>
                        <a:t>3</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339,642</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2187349952"/>
                  </a:ext>
                </a:extLst>
              </a:tr>
              <a:tr h="313620">
                <a:tc>
                  <a:txBody>
                    <a:bodyPr/>
                    <a:lstStyle/>
                    <a:p>
                      <a:r>
                        <a:rPr lang="en-US" dirty="0"/>
                        <a:t>4</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HRA</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249,123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496037746"/>
                  </a:ext>
                </a:extLst>
              </a:tr>
              <a:tr h="313620">
                <a:tc>
                  <a:txBody>
                    <a:bodyPr/>
                    <a:lstStyle/>
                    <a:p>
                      <a:r>
                        <a:rPr lang="en-US" dirty="0"/>
                        <a:t>5</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DSNY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244,135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931912217"/>
                  </a:ext>
                </a:extLst>
              </a:tr>
              <a:tr h="313620">
                <a:tc>
                  <a:txBody>
                    <a:bodyPr/>
                    <a:lstStyle/>
                    <a:p>
                      <a:r>
                        <a:rPr lang="en-US" dirty="0"/>
                        <a:t>6</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HPD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191,528</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506224256"/>
                  </a:ext>
                </a:extLst>
              </a:tr>
              <a:tr h="313620">
                <a:tc>
                  <a:txBody>
                    <a:bodyPr/>
                    <a:lstStyle/>
                    <a:p>
                      <a:r>
                        <a:rPr lang="en-US" dirty="0"/>
                        <a:t>7</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DOT</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174,155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26562172"/>
                  </a:ext>
                </a:extLst>
              </a:tr>
              <a:tr h="313620">
                <a:tc>
                  <a:txBody>
                    <a:bodyPr/>
                    <a:lstStyle/>
                    <a:p>
                      <a:r>
                        <a:rPr lang="en-US" dirty="0"/>
                        <a:t>8</a:t>
                      </a:r>
                    </a:p>
                  </a:txBody>
                  <a:tcP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DOHMH</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167,935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295305582"/>
                  </a:ext>
                </a:extLst>
              </a:tr>
              <a:tr h="313620">
                <a:tc>
                  <a:txBody>
                    <a:bodyPr/>
                    <a:lstStyle/>
                    <a:p>
                      <a:r>
                        <a:rPr lang="en-US" dirty="0"/>
                        <a:t>9</a:t>
                      </a:r>
                    </a:p>
                  </a:txBody>
                  <a:tcP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DOB</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124,887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692741123"/>
                  </a:ext>
                </a:extLst>
              </a:tr>
              <a:tr h="313620">
                <a:tc>
                  <a:txBody>
                    <a:bodyPr/>
                    <a:lstStyle/>
                    <a:p>
                      <a:r>
                        <a:rPr lang="en-US" dirty="0"/>
                        <a:t>10</a:t>
                      </a:r>
                    </a:p>
                  </a:txBody>
                  <a:tcP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117,875</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112633967"/>
                  </a:ext>
                </a:extLst>
              </a:tr>
              <a:tr h="313620">
                <a:tc>
                  <a:txBody>
                    <a:bodyPr/>
                    <a:lstStyle/>
                    <a:p>
                      <a:endParaRPr lang="en-US" dirty="0"/>
                    </a:p>
                  </a:txBody>
                  <a:tcPr/>
                </a:tc>
                <a:tc>
                  <a:txBody>
                    <a:bodyPr/>
                    <a:lstStyle/>
                    <a:p>
                      <a:pPr marL="0" marR="0" indent="0" algn="ctr">
                        <a:lnSpc>
                          <a:spcPct val="107000"/>
                        </a:lnSpc>
                        <a:spcAft>
                          <a:spcPts val="265"/>
                        </a:spcAft>
                        <a:buNone/>
                      </a:pP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554955155"/>
                  </a:ext>
                </a:extLst>
              </a:tr>
            </a:tbl>
          </a:graphicData>
        </a:graphic>
      </p:graphicFrame>
    </p:spTree>
    <p:extLst>
      <p:ext uri="{BB962C8B-B14F-4D97-AF65-F5344CB8AC3E}">
        <p14:creationId xmlns:p14="http://schemas.microsoft.com/office/powerpoint/2010/main" val="55857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EB1C-94FD-A1FC-E7C5-8E99B97BCFE5}"/>
              </a:ext>
            </a:extLst>
          </p:cNvPr>
          <p:cNvSpPr>
            <a:spLocks noGrp="1"/>
          </p:cNvSpPr>
          <p:nvPr>
            <p:ph type="title"/>
          </p:nvPr>
        </p:nvSpPr>
        <p:spPr>
          <a:xfrm>
            <a:off x="838200" y="253218"/>
            <a:ext cx="10515600" cy="1575582"/>
          </a:xfrm>
        </p:spPr>
        <p:txBody>
          <a:bodyPr>
            <a:noAutofit/>
          </a:bodyPr>
          <a:lstStyle/>
          <a:p>
            <a:pPr algn="ctr"/>
            <a:r>
              <a:rPr lang="en-US" sz="3200" b="1" dirty="0">
                <a:solidFill>
                  <a:schemeClr val="bg1"/>
                </a:solidFill>
                <a:highlight>
                  <a:srgbClr val="009900"/>
                </a:highlight>
              </a:rPr>
              <a:t>Call Volume Patterns</a:t>
            </a:r>
            <a:br>
              <a:rPr lang="en-US" sz="3200" b="1" dirty="0">
                <a:solidFill>
                  <a:schemeClr val="bg1"/>
                </a:solidFill>
                <a:highlight>
                  <a:srgbClr val="009900"/>
                </a:highlight>
              </a:rPr>
            </a:br>
            <a:r>
              <a:rPr lang="en-US" sz="3200" dirty="0">
                <a:solidFill>
                  <a:schemeClr val="bg1"/>
                </a:solidFill>
                <a:highlight>
                  <a:srgbClr val="009900"/>
                </a:highlight>
              </a:rPr>
              <a:t>Calls by Day of the Week</a:t>
            </a:r>
            <a:br>
              <a:rPr lang="en-US" sz="3200" b="1" dirty="0">
                <a:solidFill>
                  <a:schemeClr val="bg1"/>
                </a:solidFill>
                <a:highlight>
                  <a:srgbClr val="009900"/>
                </a:highlight>
              </a:rPr>
            </a:br>
            <a:endParaRPr lang="en-US" sz="3200" dirty="0">
              <a:solidFill>
                <a:schemeClr val="bg1"/>
              </a:solidFill>
              <a:highlight>
                <a:srgbClr val="009900"/>
              </a:highlight>
            </a:endParaRPr>
          </a:p>
        </p:txBody>
      </p:sp>
      <p:sp>
        <p:nvSpPr>
          <p:cNvPr id="3" name="Content Placeholder 2">
            <a:extLst>
              <a:ext uri="{FF2B5EF4-FFF2-40B4-BE49-F238E27FC236}">
                <a16:creationId xmlns:a16="http://schemas.microsoft.com/office/drawing/2014/main" id="{2B822EE8-B4E0-A3D8-3D27-A17DBC786473}"/>
              </a:ext>
            </a:extLst>
          </p:cNvPr>
          <p:cNvSpPr>
            <a:spLocks noGrp="1"/>
          </p:cNvSpPr>
          <p:nvPr>
            <p:ph idx="1"/>
          </p:nvPr>
        </p:nvSpPr>
        <p:spPr>
          <a:xfrm>
            <a:off x="838200" y="1674055"/>
            <a:ext cx="10515600" cy="4502907"/>
          </a:xfrm>
        </p:spPr>
        <p:txBody>
          <a:bodyPr/>
          <a:lstStyle/>
          <a:p>
            <a:pPr marL="0" indent="0">
              <a:buNone/>
            </a:pPr>
            <a:r>
              <a:rPr lang="en-US" sz="2400" dirty="0"/>
              <a:t>Call volumes vary meaningfully across the working week. Monday records the highest activity, while volumes taper towards the weekend, with Sunday being the quietest day.</a:t>
            </a:r>
          </a:p>
          <a:p>
            <a:endParaRPr lang="en-US" sz="2400" dirty="0"/>
          </a:p>
          <a:p>
            <a:endParaRPr lang="en-US" dirty="0"/>
          </a:p>
        </p:txBody>
      </p:sp>
      <p:graphicFrame>
        <p:nvGraphicFramePr>
          <p:cNvPr id="4" name="Table 3">
            <a:extLst>
              <a:ext uri="{FF2B5EF4-FFF2-40B4-BE49-F238E27FC236}">
                <a16:creationId xmlns:a16="http://schemas.microsoft.com/office/drawing/2014/main" id="{F18BC673-B23C-90F7-D61F-C9CCB584713F}"/>
              </a:ext>
            </a:extLst>
          </p:cNvPr>
          <p:cNvGraphicFramePr>
            <a:graphicFrameLocks noGrp="1"/>
          </p:cNvGraphicFramePr>
          <p:nvPr>
            <p:extLst>
              <p:ext uri="{D42A27DB-BD31-4B8C-83A1-F6EECF244321}">
                <p14:modId xmlns:p14="http://schemas.microsoft.com/office/powerpoint/2010/main" val="929391225"/>
              </p:ext>
            </p:extLst>
          </p:nvPr>
        </p:nvGraphicFramePr>
        <p:xfrm>
          <a:off x="1581834" y="3054903"/>
          <a:ext cx="8127999" cy="29667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838173997"/>
                    </a:ext>
                  </a:extLst>
                </a:gridCol>
                <a:gridCol w="2709333">
                  <a:extLst>
                    <a:ext uri="{9D8B030D-6E8A-4147-A177-3AD203B41FA5}">
                      <a16:colId xmlns:a16="http://schemas.microsoft.com/office/drawing/2014/main" val="4273637765"/>
                    </a:ext>
                  </a:extLst>
                </a:gridCol>
                <a:gridCol w="2709333">
                  <a:extLst>
                    <a:ext uri="{9D8B030D-6E8A-4147-A177-3AD203B41FA5}">
                      <a16:colId xmlns:a16="http://schemas.microsoft.com/office/drawing/2014/main" val="2797368721"/>
                    </a:ext>
                  </a:extLst>
                </a:gridCol>
              </a:tblGrid>
              <a:tr h="370840">
                <a:tc>
                  <a:txBody>
                    <a:bodyPr/>
                    <a:lstStyle/>
                    <a:p>
                      <a:pPr marL="0" marR="3175" indent="0" algn="ctr">
                        <a:lnSpc>
                          <a:spcPct val="107000"/>
                        </a:lnSpc>
                        <a:spcAft>
                          <a:spcPts val="265"/>
                        </a:spcAft>
                        <a:buNone/>
                      </a:pPr>
                      <a:r>
                        <a:rPr lang="en-US" sz="1000" b="1" kern="100" dirty="0">
                          <a:solidFill>
                            <a:srgbClr val="FFFFFF"/>
                          </a:solidFill>
                          <a:effectLst/>
                          <a:latin typeface="Arial" panose="020B0604020202020204" pitchFamily="34" charset="0"/>
                          <a:ea typeface="Arial" panose="020B0604020202020204" pitchFamily="34" charset="0"/>
                          <a:cs typeface="Times New Roman" panose="02020603050405020304" pitchFamily="18" charset="0"/>
                        </a:rPr>
                        <a:t>Day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Total 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Observation</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2063310045"/>
                  </a:ext>
                </a:extLst>
              </a:tr>
              <a:tr h="370840">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Monday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609,260</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Peak day — highest call volume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548160902"/>
                  </a:ext>
                </a:extLst>
              </a:tr>
              <a:tr h="370840">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Tuesday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595,984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Second busiest weekday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1069200627"/>
                  </a:ext>
                </a:extLst>
              </a:tr>
              <a:tr h="370840">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Wednesday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570,497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Midweek, steadily active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276479521"/>
                  </a:ext>
                </a:extLst>
              </a:tr>
              <a:tr h="370840">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Thursday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535,255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Slight decline mid-to-late week</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2369554680"/>
                  </a:ext>
                </a:extLst>
              </a:tr>
              <a:tr h="370840">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Friday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485,740</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Notable drop heading into weekend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4138846361"/>
                  </a:ext>
                </a:extLst>
              </a:tr>
              <a:tr h="370840">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Saturday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264,948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Significantly lower — partial staffing</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998793853"/>
                  </a:ext>
                </a:extLst>
              </a:tr>
              <a:tr h="370840">
                <a:tc>
                  <a:txBody>
                    <a:bodyPr/>
                    <a:lstStyle/>
                    <a:p>
                      <a:pPr marL="0" marR="3175"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Sunday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235,198</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Quietest day of the week</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560738159"/>
                  </a:ext>
                </a:extLst>
              </a:tr>
            </a:tbl>
          </a:graphicData>
        </a:graphic>
      </p:graphicFrame>
    </p:spTree>
    <p:extLst>
      <p:ext uri="{BB962C8B-B14F-4D97-AF65-F5344CB8AC3E}">
        <p14:creationId xmlns:p14="http://schemas.microsoft.com/office/powerpoint/2010/main" val="1615049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0BBAD-F5BD-F11A-CB5D-0FC33119FFB7}"/>
              </a:ext>
            </a:extLst>
          </p:cNvPr>
          <p:cNvSpPr>
            <a:spLocks noGrp="1"/>
          </p:cNvSpPr>
          <p:nvPr>
            <p:ph type="title"/>
          </p:nvPr>
        </p:nvSpPr>
        <p:spPr/>
        <p:txBody>
          <a:bodyPr/>
          <a:lstStyle/>
          <a:p>
            <a:r>
              <a:rPr lang="en-US" dirty="0">
                <a:solidFill>
                  <a:schemeClr val="bg1"/>
                </a:solidFill>
                <a:highlight>
                  <a:srgbClr val="009900"/>
                </a:highlight>
              </a:rPr>
              <a:t>Calls by Month</a:t>
            </a:r>
          </a:p>
        </p:txBody>
      </p:sp>
      <p:sp>
        <p:nvSpPr>
          <p:cNvPr id="3" name="Content Placeholder 2">
            <a:extLst>
              <a:ext uri="{FF2B5EF4-FFF2-40B4-BE49-F238E27FC236}">
                <a16:creationId xmlns:a16="http://schemas.microsoft.com/office/drawing/2014/main" id="{95418305-DFAE-D8A3-CC64-6F244C70CE74}"/>
              </a:ext>
            </a:extLst>
          </p:cNvPr>
          <p:cNvSpPr>
            <a:spLocks noGrp="1"/>
          </p:cNvSpPr>
          <p:nvPr>
            <p:ph idx="1"/>
          </p:nvPr>
        </p:nvSpPr>
        <p:spPr/>
        <p:txBody>
          <a:bodyPr/>
          <a:lstStyle/>
          <a:p>
            <a:r>
              <a:rPr lang="en-US" dirty="0"/>
              <a:t>Monthly data reveals seasonal trends. March registers the highest call volume, while February (likely impacted by fewer days) records the lowest. Note: the dataset appears to start from February, so January data is not included.</a:t>
            </a:r>
          </a:p>
          <a:p>
            <a:endParaRPr lang="en-US" dirty="0"/>
          </a:p>
        </p:txBody>
      </p:sp>
      <p:graphicFrame>
        <p:nvGraphicFramePr>
          <p:cNvPr id="4" name="Table 3">
            <a:extLst>
              <a:ext uri="{FF2B5EF4-FFF2-40B4-BE49-F238E27FC236}">
                <a16:creationId xmlns:a16="http://schemas.microsoft.com/office/drawing/2014/main" id="{A755D4EA-302A-D146-607B-040CBA3CD0D7}"/>
              </a:ext>
            </a:extLst>
          </p:cNvPr>
          <p:cNvGraphicFramePr>
            <a:graphicFrameLocks noGrp="1"/>
          </p:cNvGraphicFramePr>
          <p:nvPr>
            <p:extLst>
              <p:ext uri="{D42A27DB-BD31-4B8C-83A1-F6EECF244321}">
                <p14:modId xmlns:p14="http://schemas.microsoft.com/office/powerpoint/2010/main" val="2176587958"/>
              </p:ext>
            </p:extLst>
          </p:nvPr>
        </p:nvGraphicFramePr>
        <p:xfrm>
          <a:off x="2735383" y="3587262"/>
          <a:ext cx="5986586" cy="2905616"/>
        </p:xfrm>
        <a:graphic>
          <a:graphicData uri="http://schemas.openxmlformats.org/drawingml/2006/table">
            <a:tbl>
              <a:tblPr firstRow="1" bandRow="1">
                <a:tableStyleId>{5C22544A-7EE6-4342-B048-85BDC9FD1C3A}</a:tableStyleId>
              </a:tblPr>
              <a:tblGrid>
                <a:gridCol w="2993293">
                  <a:extLst>
                    <a:ext uri="{9D8B030D-6E8A-4147-A177-3AD203B41FA5}">
                      <a16:colId xmlns:a16="http://schemas.microsoft.com/office/drawing/2014/main" val="3920837119"/>
                    </a:ext>
                  </a:extLst>
                </a:gridCol>
                <a:gridCol w="2993293">
                  <a:extLst>
                    <a:ext uri="{9D8B030D-6E8A-4147-A177-3AD203B41FA5}">
                      <a16:colId xmlns:a16="http://schemas.microsoft.com/office/drawing/2014/main" val="2098476628"/>
                    </a:ext>
                  </a:extLst>
                </a:gridCol>
              </a:tblGrid>
              <a:tr h="415088">
                <a:tc>
                  <a:txBody>
                    <a:bodyPr/>
                    <a:lstStyle/>
                    <a:p>
                      <a:pPr marL="0" marR="0"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Month</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Total 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2648495952"/>
                  </a:ext>
                </a:extLst>
              </a:tr>
              <a:tr h="415088">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February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175,883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203214338"/>
                  </a:ext>
                </a:extLst>
              </a:tr>
              <a:tr h="415088">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March</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687,116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73664165"/>
                  </a:ext>
                </a:extLst>
              </a:tr>
              <a:tr h="415088">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April</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651,749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4244305787"/>
                  </a:ext>
                </a:extLst>
              </a:tr>
              <a:tr h="415088">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May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612,700</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83286446"/>
                  </a:ext>
                </a:extLst>
              </a:tr>
              <a:tr h="415088">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June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679,119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3014095"/>
                  </a:ext>
                </a:extLst>
              </a:tr>
              <a:tr h="415088">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July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490,315</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21559480"/>
                  </a:ext>
                </a:extLst>
              </a:tr>
            </a:tbl>
          </a:graphicData>
        </a:graphic>
      </p:graphicFrame>
    </p:spTree>
    <p:extLst>
      <p:ext uri="{BB962C8B-B14F-4D97-AF65-F5344CB8AC3E}">
        <p14:creationId xmlns:p14="http://schemas.microsoft.com/office/powerpoint/2010/main" val="1928073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47D7C-7950-4FB6-F319-F1BC37EEBEF4}"/>
              </a:ext>
            </a:extLst>
          </p:cNvPr>
          <p:cNvSpPr>
            <a:spLocks noGrp="1"/>
          </p:cNvSpPr>
          <p:nvPr>
            <p:ph type="title"/>
          </p:nvPr>
        </p:nvSpPr>
        <p:spPr/>
        <p:txBody>
          <a:bodyPr/>
          <a:lstStyle/>
          <a:p>
            <a:r>
              <a:rPr lang="en-US" dirty="0">
                <a:solidFill>
                  <a:schemeClr val="bg1"/>
                </a:solidFill>
                <a:highlight>
                  <a:srgbClr val="009900"/>
                </a:highlight>
              </a:rPr>
              <a:t>Top 10 Hours by Call Volume</a:t>
            </a:r>
          </a:p>
        </p:txBody>
      </p:sp>
      <p:sp>
        <p:nvSpPr>
          <p:cNvPr id="3" name="Content Placeholder 2">
            <a:extLst>
              <a:ext uri="{FF2B5EF4-FFF2-40B4-BE49-F238E27FC236}">
                <a16:creationId xmlns:a16="http://schemas.microsoft.com/office/drawing/2014/main" id="{BA172F70-B0F6-FC48-5A90-07CAB93AC2F5}"/>
              </a:ext>
            </a:extLst>
          </p:cNvPr>
          <p:cNvSpPr>
            <a:spLocks noGrp="1"/>
          </p:cNvSpPr>
          <p:nvPr>
            <p:ph idx="1"/>
          </p:nvPr>
        </p:nvSpPr>
        <p:spPr/>
        <p:txBody>
          <a:bodyPr/>
          <a:lstStyle/>
          <a:p>
            <a:r>
              <a:rPr lang="en-US" sz="1400" dirty="0"/>
              <a:t>The 11:00 AM slot is the single busiest hour of the day, accounting for nearly 9% of all calls. Call activity is concentrated between 9:00 AM and 5:00 PM, with a sharp drop in the evening and overnight hours.</a:t>
            </a:r>
          </a:p>
          <a:p>
            <a:endParaRPr lang="en-US" dirty="0"/>
          </a:p>
        </p:txBody>
      </p:sp>
      <p:graphicFrame>
        <p:nvGraphicFramePr>
          <p:cNvPr id="4" name="Table 3">
            <a:extLst>
              <a:ext uri="{FF2B5EF4-FFF2-40B4-BE49-F238E27FC236}">
                <a16:creationId xmlns:a16="http://schemas.microsoft.com/office/drawing/2014/main" id="{4E05B501-C352-1114-6D89-3C6741536434}"/>
              </a:ext>
            </a:extLst>
          </p:cNvPr>
          <p:cNvGraphicFramePr>
            <a:graphicFrameLocks noGrp="1"/>
          </p:cNvGraphicFramePr>
          <p:nvPr>
            <p:extLst>
              <p:ext uri="{D42A27DB-BD31-4B8C-83A1-F6EECF244321}">
                <p14:modId xmlns:p14="http://schemas.microsoft.com/office/powerpoint/2010/main" val="4110398059"/>
              </p:ext>
            </p:extLst>
          </p:nvPr>
        </p:nvGraphicFramePr>
        <p:xfrm>
          <a:off x="838200" y="2413635"/>
          <a:ext cx="7363264" cy="4079240"/>
        </p:xfrm>
        <a:graphic>
          <a:graphicData uri="http://schemas.openxmlformats.org/drawingml/2006/table">
            <a:tbl>
              <a:tblPr firstRow="1" bandRow="1">
                <a:tableStyleId>{5C22544A-7EE6-4342-B048-85BDC9FD1C3A}</a:tableStyleId>
              </a:tblPr>
              <a:tblGrid>
                <a:gridCol w="1840816">
                  <a:extLst>
                    <a:ext uri="{9D8B030D-6E8A-4147-A177-3AD203B41FA5}">
                      <a16:colId xmlns:a16="http://schemas.microsoft.com/office/drawing/2014/main" val="4124814536"/>
                    </a:ext>
                  </a:extLst>
                </a:gridCol>
                <a:gridCol w="1840816">
                  <a:extLst>
                    <a:ext uri="{9D8B030D-6E8A-4147-A177-3AD203B41FA5}">
                      <a16:colId xmlns:a16="http://schemas.microsoft.com/office/drawing/2014/main" val="510533415"/>
                    </a:ext>
                  </a:extLst>
                </a:gridCol>
                <a:gridCol w="1840816">
                  <a:extLst>
                    <a:ext uri="{9D8B030D-6E8A-4147-A177-3AD203B41FA5}">
                      <a16:colId xmlns:a16="http://schemas.microsoft.com/office/drawing/2014/main" val="4212147465"/>
                    </a:ext>
                  </a:extLst>
                </a:gridCol>
                <a:gridCol w="1840816">
                  <a:extLst>
                    <a:ext uri="{9D8B030D-6E8A-4147-A177-3AD203B41FA5}">
                      <a16:colId xmlns:a16="http://schemas.microsoft.com/office/drawing/2014/main" val="674507056"/>
                    </a:ext>
                  </a:extLst>
                </a:gridCol>
              </a:tblGrid>
              <a:tr h="370840">
                <a:tc>
                  <a:txBody>
                    <a:bodyPr/>
                    <a:lstStyle/>
                    <a:p>
                      <a:pPr marL="0" marR="0" indent="0" algn="ctr">
                        <a:lnSpc>
                          <a:spcPct val="107000"/>
                        </a:lnSpc>
                        <a:spcAft>
                          <a:spcPts val="265"/>
                        </a:spcAft>
                        <a:buNone/>
                      </a:pPr>
                      <a:r>
                        <a:rPr lang="en-US" sz="1000" b="1" kern="100" dirty="0">
                          <a:solidFill>
                            <a:srgbClr val="FFFFFF"/>
                          </a:solidFill>
                          <a:effectLst/>
                          <a:latin typeface="Arial" panose="020B0604020202020204" pitchFamily="34" charset="0"/>
                          <a:ea typeface="Arial" panose="020B0604020202020204" pitchFamily="34" charset="0"/>
                          <a:cs typeface="Times New Roman" panose="02020603050405020304" pitchFamily="18" charset="0"/>
                        </a:rPr>
                        <a:t>Hour of Day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Time Period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Total 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 of All 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400104020"/>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11:00 AM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295,604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8.97%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2580901305"/>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10:00 AM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288,494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8.75%</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012635993"/>
                  </a:ext>
                </a:extLst>
              </a:tr>
              <a:tr h="370840">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12:00 PM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284,458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8.63%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254855095"/>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01:00 PM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273,174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8.29%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265468714"/>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02:00 PM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268,545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8.15%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4019588374"/>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03:00 PM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263,307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7.99%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370447487"/>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09:00 AM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254,087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7.71%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473356691"/>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04:00 PM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238,213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7.23%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1120746389"/>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05:00 PM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173,695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5.27%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677868248"/>
                  </a:ext>
                </a:extLst>
              </a:tr>
              <a:tr h="370840">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08:00 AM</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152,343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tc>
                  <a:txBody>
                    <a:bodyPr/>
                    <a:lstStyle/>
                    <a:p>
                      <a:pPr marL="0" marR="0" indent="0" algn="ctr">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4.62%</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3025" marR="73025" marT="0" marB="0" anchor="ctr"/>
                </a:tc>
                <a:extLst>
                  <a:ext uri="{0D108BD9-81ED-4DB2-BD59-A6C34878D82A}">
                    <a16:rowId xmlns:a16="http://schemas.microsoft.com/office/drawing/2014/main" val="3682165016"/>
                  </a:ext>
                </a:extLst>
              </a:tr>
            </a:tbl>
          </a:graphicData>
        </a:graphic>
      </p:graphicFrame>
      <p:pic>
        <p:nvPicPr>
          <p:cNvPr id="5" name="Picture 4">
            <a:extLst>
              <a:ext uri="{FF2B5EF4-FFF2-40B4-BE49-F238E27FC236}">
                <a16:creationId xmlns:a16="http://schemas.microsoft.com/office/drawing/2014/main" id="{B412340E-5003-F69D-5E84-CB4C62442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7562" y="2413634"/>
            <a:ext cx="3292352" cy="2383449"/>
          </a:xfrm>
          <a:prstGeom prst="rect">
            <a:avLst/>
          </a:prstGeom>
        </p:spPr>
      </p:pic>
    </p:spTree>
    <p:extLst>
      <p:ext uri="{BB962C8B-B14F-4D97-AF65-F5344CB8AC3E}">
        <p14:creationId xmlns:p14="http://schemas.microsoft.com/office/powerpoint/2010/main" val="474078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4091-6091-3355-7FFA-7A197F226DA9}"/>
              </a:ext>
            </a:extLst>
          </p:cNvPr>
          <p:cNvSpPr>
            <a:spLocks noGrp="1"/>
          </p:cNvSpPr>
          <p:nvPr>
            <p:ph type="title"/>
          </p:nvPr>
        </p:nvSpPr>
        <p:spPr>
          <a:xfrm>
            <a:off x="838200" y="365125"/>
            <a:ext cx="10515600" cy="985373"/>
          </a:xfrm>
        </p:spPr>
        <p:txBody>
          <a:bodyPr>
            <a:normAutofit fontScale="90000"/>
          </a:bodyPr>
          <a:lstStyle/>
          <a:p>
            <a:pPr algn="ctr"/>
            <a:r>
              <a:rPr lang="en-US" b="1" dirty="0">
                <a:solidFill>
                  <a:schemeClr val="bg1"/>
                </a:solidFill>
                <a:highlight>
                  <a:srgbClr val="009900"/>
                </a:highlight>
              </a:rPr>
              <a:t>Call Resolution Analysis</a:t>
            </a:r>
            <a:br>
              <a:rPr lang="en-US" b="1" dirty="0">
                <a:solidFill>
                  <a:schemeClr val="bg1"/>
                </a:solidFill>
                <a:highlight>
                  <a:srgbClr val="009900"/>
                </a:highlight>
              </a:rPr>
            </a:br>
            <a:endParaRPr lang="en-US" dirty="0">
              <a:solidFill>
                <a:schemeClr val="bg1"/>
              </a:solidFill>
              <a:highlight>
                <a:srgbClr val="009900"/>
              </a:highlight>
            </a:endParaRPr>
          </a:p>
        </p:txBody>
      </p:sp>
      <p:sp>
        <p:nvSpPr>
          <p:cNvPr id="3" name="Content Placeholder 2">
            <a:extLst>
              <a:ext uri="{FF2B5EF4-FFF2-40B4-BE49-F238E27FC236}">
                <a16:creationId xmlns:a16="http://schemas.microsoft.com/office/drawing/2014/main" id="{5EC0D6BB-65D0-B94C-FD0F-342FB8E726C9}"/>
              </a:ext>
            </a:extLst>
          </p:cNvPr>
          <p:cNvSpPr>
            <a:spLocks noGrp="1"/>
          </p:cNvSpPr>
          <p:nvPr>
            <p:ph idx="1"/>
          </p:nvPr>
        </p:nvSpPr>
        <p:spPr>
          <a:xfrm>
            <a:off x="838200" y="1350498"/>
            <a:ext cx="10515600" cy="4826465"/>
          </a:xfrm>
        </p:spPr>
        <p:txBody>
          <a:bodyPr/>
          <a:lstStyle/>
          <a:p>
            <a:r>
              <a:rPr lang="en-US" sz="1600" dirty="0"/>
              <a:t>Each call in the dataset was </a:t>
            </a:r>
            <a:r>
              <a:rPr lang="en-US" sz="1600" dirty="0" err="1"/>
              <a:t>categorised</a:t>
            </a:r>
            <a:r>
              <a:rPr lang="en-US" sz="1600" dirty="0"/>
              <a:t> into one of six resolution outcomes. Understanding these categories is essential for evaluating service effectiveness and identifying gaps.</a:t>
            </a:r>
          </a:p>
          <a:p>
            <a:r>
              <a:rPr lang="en-US" sz="1600" dirty="0"/>
              <a:t>Resolution Category Breakdown</a:t>
            </a:r>
          </a:p>
          <a:p>
            <a:r>
              <a:rPr lang="en-US" sz="1600" dirty="0"/>
              <a:t>The majority of calls (52.74%) were resolved directly, which is a strong indicator of agent competence and effective call routing. A further 42.03% were redirected this is expected in a </a:t>
            </a:r>
            <a:r>
              <a:rPr lang="en-US" sz="1600" dirty="0" err="1"/>
              <a:t>centralised</a:t>
            </a:r>
            <a:r>
              <a:rPr lang="en-US" sz="1600" dirty="0"/>
              <a:t> 311 model where callers are transferred to specialist agencies. The unresolved rate of 0.56% (18,372 calls) is relatively low, though this still represents a meaningful number of citizens who did not receive assistance</a:t>
            </a:r>
            <a:r>
              <a:rPr lang="en-US" dirty="0"/>
              <a:t>.</a:t>
            </a:r>
          </a:p>
          <a:p>
            <a:endParaRPr lang="en-US" dirty="0"/>
          </a:p>
        </p:txBody>
      </p:sp>
      <p:graphicFrame>
        <p:nvGraphicFramePr>
          <p:cNvPr id="4" name="Table 3">
            <a:extLst>
              <a:ext uri="{FF2B5EF4-FFF2-40B4-BE49-F238E27FC236}">
                <a16:creationId xmlns:a16="http://schemas.microsoft.com/office/drawing/2014/main" id="{197A8A5B-5466-C75E-5A49-8A523C6615FD}"/>
              </a:ext>
            </a:extLst>
          </p:cNvPr>
          <p:cNvGraphicFramePr>
            <a:graphicFrameLocks noGrp="1"/>
          </p:cNvGraphicFramePr>
          <p:nvPr>
            <p:extLst>
              <p:ext uri="{D42A27DB-BD31-4B8C-83A1-F6EECF244321}">
                <p14:modId xmlns:p14="http://schemas.microsoft.com/office/powerpoint/2010/main" val="3545711636"/>
              </p:ext>
            </p:extLst>
          </p:nvPr>
        </p:nvGraphicFramePr>
        <p:xfrm>
          <a:off x="725659" y="3538269"/>
          <a:ext cx="7757160" cy="2954606"/>
        </p:xfrm>
        <a:graphic>
          <a:graphicData uri="http://schemas.openxmlformats.org/drawingml/2006/table">
            <a:tbl>
              <a:tblPr firstRow="1" bandRow="1">
                <a:tableStyleId>{5C22544A-7EE6-4342-B048-85BDC9FD1C3A}</a:tableStyleId>
              </a:tblPr>
              <a:tblGrid>
                <a:gridCol w="1939290">
                  <a:extLst>
                    <a:ext uri="{9D8B030D-6E8A-4147-A177-3AD203B41FA5}">
                      <a16:colId xmlns:a16="http://schemas.microsoft.com/office/drawing/2014/main" val="1148736947"/>
                    </a:ext>
                  </a:extLst>
                </a:gridCol>
                <a:gridCol w="1939290">
                  <a:extLst>
                    <a:ext uri="{9D8B030D-6E8A-4147-A177-3AD203B41FA5}">
                      <a16:colId xmlns:a16="http://schemas.microsoft.com/office/drawing/2014/main" val="2776726590"/>
                    </a:ext>
                  </a:extLst>
                </a:gridCol>
                <a:gridCol w="1939290">
                  <a:extLst>
                    <a:ext uri="{9D8B030D-6E8A-4147-A177-3AD203B41FA5}">
                      <a16:colId xmlns:a16="http://schemas.microsoft.com/office/drawing/2014/main" val="2253384587"/>
                    </a:ext>
                  </a:extLst>
                </a:gridCol>
                <a:gridCol w="1939290">
                  <a:extLst>
                    <a:ext uri="{9D8B030D-6E8A-4147-A177-3AD203B41FA5}">
                      <a16:colId xmlns:a16="http://schemas.microsoft.com/office/drawing/2014/main" val="235805690"/>
                    </a:ext>
                  </a:extLst>
                </a:gridCol>
              </a:tblGrid>
              <a:tr h="419072">
                <a:tc>
                  <a:txBody>
                    <a:bodyPr/>
                    <a:lstStyle/>
                    <a:p>
                      <a:pPr marL="0" marR="3175"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Resolution Category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Total 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Percentage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Meaning</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2945448762"/>
                  </a:ext>
                </a:extLst>
              </a:tr>
              <a:tr h="419072">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Resolved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1,738,693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52.74%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Call fully handled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748494211"/>
                  </a:ext>
                </a:extLst>
              </a:tr>
              <a:tr h="419072">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Redirected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1,385,693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42.03%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Transferred to right dept.</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264344804"/>
                  </a:ext>
                </a:extLst>
              </a:tr>
              <a:tr h="419072">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 / 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59,544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1.81%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Unclear outcome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902105308"/>
                  </a:ext>
                </a:extLst>
              </a:tr>
              <a:tr h="419072">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Appointment Related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58,356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Booking / scheduling</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1054515473"/>
                  </a:ext>
                </a:extLst>
              </a:tr>
              <a:tr h="419072">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Callback or Follow Up</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36,224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1.10%</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Needs further contact</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534583699"/>
                  </a:ext>
                </a:extLst>
              </a:tr>
              <a:tr h="440174">
                <a:tc>
                  <a:txBody>
                    <a:bodyPr/>
                    <a:lstStyle/>
                    <a:p>
                      <a:pPr marL="0" marR="3175" indent="0" algn="ctr">
                        <a:lnSpc>
                          <a:spcPct val="107000"/>
                        </a:lnSpc>
                        <a:spcAft>
                          <a:spcPts val="265"/>
                        </a:spcAft>
                        <a:buNone/>
                      </a:pPr>
                      <a:r>
                        <a:rPr lang="en-US" sz="1000" kern="100" dirty="0">
                          <a:solidFill>
                            <a:srgbClr val="C0392B"/>
                          </a:solidFill>
                          <a:effectLst/>
                          <a:latin typeface="Arial" panose="020B0604020202020204" pitchFamily="34" charset="0"/>
                          <a:ea typeface="Arial" panose="020B0604020202020204" pitchFamily="34" charset="0"/>
                          <a:cs typeface="Times New Roman" panose="02020603050405020304" pitchFamily="18" charset="0"/>
                        </a:rPr>
                        <a:t>Unresolved</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dirty="0">
                          <a:solidFill>
                            <a:srgbClr val="C0392B"/>
                          </a:solidFill>
                          <a:effectLst/>
                          <a:latin typeface="Arial" panose="020B0604020202020204" pitchFamily="34" charset="0"/>
                          <a:ea typeface="Arial" panose="020B0604020202020204" pitchFamily="34" charset="0"/>
                          <a:cs typeface="Times New Roman" panose="02020603050405020304" pitchFamily="18" charset="0"/>
                        </a:rPr>
                        <a:t>18,372</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1000" kern="100" dirty="0">
                          <a:solidFill>
                            <a:srgbClr val="C0392B"/>
                          </a:solidFill>
                          <a:effectLst/>
                          <a:latin typeface="Arial" panose="020B0604020202020204" pitchFamily="34" charset="0"/>
                          <a:ea typeface="Arial" panose="020B0604020202020204" pitchFamily="34" charset="0"/>
                          <a:cs typeface="Times New Roman" panose="02020603050405020304" pitchFamily="18" charset="0"/>
                        </a:rPr>
                        <a:t>0.56%</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1000" kern="100" dirty="0">
                          <a:solidFill>
                            <a:srgbClr val="C0392B"/>
                          </a:solidFill>
                          <a:effectLst/>
                          <a:latin typeface="Arial" panose="020B0604020202020204" pitchFamily="34" charset="0"/>
                          <a:ea typeface="Arial" panose="020B0604020202020204" pitchFamily="34" charset="0"/>
                          <a:cs typeface="Times New Roman" panose="02020603050405020304" pitchFamily="18" charset="0"/>
                        </a:rPr>
                        <a:t>Call not handled</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1579812910"/>
                  </a:ext>
                </a:extLst>
              </a:tr>
            </a:tbl>
          </a:graphicData>
        </a:graphic>
      </p:graphicFrame>
      <p:pic>
        <p:nvPicPr>
          <p:cNvPr id="5" name="Picture 4">
            <a:extLst>
              <a:ext uri="{FF2B5EF4-FFF2-40B4-BE49-F238E27FC236}">
                <a16:creationId xmlns:a16="http://schemas.microsoft.com/office/drawing/2014/main" id="{92F97EF1-BCF4-6362-861B-0998DF9899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5825" y="3380007"/>
            <a:ext cx="2847975" cy="1867242"/>
          </a:xfrm>
          <a:prstGeom prst="rect">
            <a:avLst/>
          </a:prstGeom>
        </p:spPr>
      </p:pic>
    </p:spTree>
    <p:extLst>
      <p:ext uri="{BB962C8B-B14F-4D97-AF65-F5344CB8AC3E}">
        <p14:creationId xmlns:p14="http://schemas.microsoft.com/office/powerpoint/2010/main" val="46590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43C16-6642-4675-58EB-50D600A7C453}"/>
              </a:ext>
            </a:extLst>
          </p:cNvPr>
          <p:cNvSpPr>
            <a:spLocks noGrp="1"/>
          </p:cNvSpPr>
          <p:nvPr>
            <p:ph type="title"/>
          </p:nvPr>
        </p:nvSpPr>
        <p:spPr/>
        <p:txBody>
          <a:bodyPr/>
          <a:lstStyle/>
          <a:p>
            <a:pPr algn="ctr"/>
            <a:r>
              <a:rPr lang="en-US" dirty="0">
                <a:solidFill>
                  <a:schemeClr val="bg1"/>
                </a:solidFill>
                <a:highlight>
                  <a:srgbClr val="009900"/>
                </a:highlight>
              </a:rPr>
              <a:t>Agencies with the Most Failed / Unresolved Calls</a:t>
            </a:r>
          </a:p>
        </p:txBody>
      </p:sp>
      <p:sp>
        <p:nvSpPr>
          <p:cNvPr id="3" name="Content Placeholder 2">
            <a:extLst>
              <a:ext uri="{FF2B5EF4-FFF2-40B4-BE49-F238E27FC236}">
                <a16:creationId xmlns:a16="http://schemas.microsoft.com/office/drawing/2014/main" id="{B85350B2-150E-3D29-B6FE-17118B77110D}"/>
              </a:ext>
            </a:extLst>
          </p:cNvPr>
          <p:cNvSpPr>
            <a:spLocks noGrp="1"/>
          </p:cNvSpPr>
          <p:nvPr>
            <p:ph idx="1"/>
          </p:nvPr>
        </p:nvSpPr>
        <p:spPr/>
        <p:txBody>
          <a:bodyPr/>
          <a:lstStyle/>
          <a:p>
            <a:r>
              <a:rPr lang="en-US" sz="1600" dirty="0"/>
              <a:t>The table below highlights the top agencies by failed call count (Unresolved or Unknown/Other categories). A high percentage within the agency's total calls is a red flag indicating systemic issues.</a:t>
            </a:r>
          </a:p>
          <a:p>
            <a:endParaRPr lang="en-US" dirty="0"/>
          </a:p>
        </p:txBody>
      </p:sp>
      <p:graphicFrame>
        <p:nvGraphicFramePr>
          <p:cNvPr id="5" name="Table 4">
            <a:extLst>
              <a:ext uri="{FF2B5EF4-FFF2-40B4-BE49-F238E27FC236}">
                <a16:creationId xmlns:a16="http://schemas.microsoft.com/office/drawing/2014/main" id="{FE2F99E7-AA80-2113-EDE0-9A8566441914}"/>
              </a:ext>
            </a:extLst>
          </p:cNvPr>
          <p:cNvGraphicFramePr>
            <a:graphicFrameLocks noGrp="1"/>
          </p:cNvGraphicFramePr>
          <p:nvPr>
            <p:extLst>
              <p:ext uri="{D42A27DB-BD31-4B8C-83A1-F6EECF244321}">
                <p14:modId xmlns:p14="http://schemas.microsoft.com/office/powerpoint/2010/main" val="134776329"/>
              </p:ext>
            </p:extLst>
          </p:nvPr>
        </p:nvGraphicFramePr>
        <p:xfrm>
          <a:off x="1027289" y="2468563"/>
          <a:ext cx="8128000" cy="40792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234948726"/>
                    </a:ext>
                  </a:extLst>
                </a:gridCol>
                <a:gridCol w="1625600">
                  <a:extLst>
                    <a:ext uri="{9D8B030D-6E8A-4147-A177-3AD203B41FA5}">
                      <a16:colId xmlns:a16="http://schemas.microsoft.com/office/drawing/2014/main" val="1556891591"/>
                    </a:ext>
                  </a:extLst>
                </a:gridCol>
                <a:gridCol w="1625600">
                  <a:extLst>
                    <a:ext uri="{9D8B030D-6E8A-4147-A177-3AD203B41FA5}">
                      <a16:colId xmlns:a16="http://schemas.microsoft.com/office/drawing/2014/main" val="2666620120"/>
                    </a:ext>
                  </a:extLst>
                </a:gridCol>
                <a:gridCol w="1625600">
                  <a:extLst>
                    <a:ext uri="{9D8B030D-6E8A-4147-A177-3AD203B41FA5}">
                      <a16:colId xmlns:a16="http://schemas.microsoft.com/office/drawing/2014/main" val="1624618713"/>
                    </a:ext>
                  </a:extLst>
                </a:gridCol>
                <a:gridCol w="1625600">
                  <a:extLst>
                    <a:ext uri="{9D8B030D-6E8A-4147-A177-3AD203B41FA5}">
                      <a16:colId xmlns:a16="http://schemas.microsoft.com/office/drawing/2014/main" val="993206626"/>
                    </a:ext>
                  </a:extLst>
                </a:gridCol>
              </a:tblGrid>
              <a:tr h="370840">
                <a:tc>
                  <a:txBody>
                    <a:bodyPr/>
                    <a:lstStyle/>
                    <a:p>
                      <a:pPr marL="0" marR="0" indent="0" algn="ctr">
                        <a:lnSpc>
                          <a:spcPct val="107000"/>
                        </a:lnSpc>
                        <a:spcAft>
                          <a:spcPts val="265"/>
                        </a:spcAft>
                        <a:buNone/>
                      </a:pPr>
                      <a:r>
                        <a:rPr lang="en-US" sz="850" b="1" kern="100" dirty="0">
                          <a:solidFill>
                            <a:srgbClr val="FFFFFF"/>
                          </a:solidFill>
                          <a:effectLst/>
                          <a:latin typeface="Arial" panose="020B0604020202020204" pitchFamily="34" charset="0"/>
                          <a:ea typeface="Arial" panose="020B0604020202020204" pitchFamily="34" charset="0"/>
                          <a:cs typeface="Times New Roman" panose="02020603050405020304" pitchFamily="18" charset="0"/>
                        </a:rPr>
                        <a:t>Agency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Agency Name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Category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 of Agency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4168861599"/>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DOF</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Finance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7,841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83.69%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318074872"/>
                  </a:ext>
                </a:extLst>
              </a:tr>
              <a:tr h="370840">
                <a:tc>
                  <a:txBody>
                    <a:bodyPr/>
                    <a:lstStyle/>
                    <a:p>
                      <a:pPr marL="9906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DOHMH</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Health &amp; Mental Hygiene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7,113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89.43%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835329101"/>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DCA</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Consumer Affairs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3,433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90.48%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757714753"/>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NYPD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NYC Police Department</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Unresolved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3,197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89.28%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313833090"/>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HRA</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Human Resources Admin.</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3,089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72.26%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3212422046"/>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3-1-1 Call Center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Unresolved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2,883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99.55%</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230421475"/>
                  </a:ext>
                </a:extLst>
              </a:tr>
              <a:tr h="370840">
                <a:tc>
                  <a:txBody>
                    <a:bodyPr/>
                    <a:lstStyle/>
                    <a:p>
                      <a:pPr marL="0" marR="0" indent="0" algn="just">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NYCOURTS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New York Courts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2,688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95.83%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454669870"/>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Education</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2,680</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91.09%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1682648276"/>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DHS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Homeless Services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2,412</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93.16%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1672620119"/>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DOB</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Buildings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2,143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71.86%</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2860460137"/>
                  </a:ext>
                </a:extLst>
              </a:tr>
            </a:tbl>
          </a:graphicData>
        </a:graphic>
      </p:graphicFrame>
    </p:spTree>
    <p:extLst>
      <p:ext uri="{BB962C8B-B14F-4D97-AF65-F5344CB8AC3E}">
        <p14:creationId xmlns:p14="http://schemas.microsoft.com/office/powerpoint/2010/main" val="853669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590CE-103B-6A3B-D7CC-D815AD1D79B5}"/>
              </a:ext>
            </a:extLst>
          </p:cNvPr>
          <p:cNvSpPr>
            <a:spLocks noGrp="1"/>
          </p:cNvSpPr>
          <p:nvPr>
            <p:ph type="title"/>
          </p:nvPr>
        </p:nvSpPr>
        <p:spPr/>
        <p:txBody>
          <a:bodyPr/>
          <a:lstStyle/>
          <a:p>
            <a:pPr algn="ctr"/>
            <a:r>
              <a:rPr lang="en-US" dirty="0">
                <a:solidFill>
                  <a:schemeClr val="bg1"/>
                </a:solidFill>
                <a:highlight>
                  <a:srgbClr val="009900"/>
                </a:highlight>
              </a:rPr>
              <a:t>Agencies with the Most Failed / Unresolved Calls</a:t>
            </a:r>
            <a:endParaRPr lang="en-US" dirty="0"/>
          </a:p>
        </p:txBody>
      </p:sp>
      <p:graphicFrame>
        <p:nvGraphicFramePr>
          <p:cNvPr id="4" name="Content Placeholder 3">
            <a:extLst>
              <a:ext uri="{FF2B5EF4-FFF2-40B4-BE49-F238E27FC236}">
                <a16:creationId xmlns:a16="http://schemas.microsoft.com/office/drawing/2014/main" id="{164AE871-241E-9F68-EE7E-AF94D0AA0554}"/>
              </a:ext>
            </a:extLst>
          </p:cNvPr>
          <p:cNvGraphicFramePr>
            <a:graphicFrameLocks noGrp="1"/>
          </p:cNvGraphicFramePr>
          <p:nvPr>
            <p:ph idx="1"/>
            <p:extLst>
              <p:ext uri="{D42A27DB-BD31-4B8C-83A1-F6EECF244321}">
                <p14:modId xmlns:p14="http://schemas.microsoft.com/office/powerpoint/2010/main" val="3004644431"/>
              </p:ext>
            </p:extLst>
          </p:nvPr>
        </p:nvGraphicFramePr>
        <p:xfrm>
          <a:off x="838200" y="1825625"/>
          <a:ext cx="10515600" cy="40792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679832734"/>
                    </a:ext>
                  </a:extLst>
                </a:gridCol>
                <a:gridCol w="2103120">
                  <a:extLst>
                    <a:ext uri="{9D8B030D-6E8A-4147-A177-3AD203B41FA5}">
                      <a16:colId xmlns:a16="http://schemas.microsoft.com/office/drawing/2014/main" val="1308042096"/>
                    </a:ext>
                  </a:extLst>
                </a:gridCol>
                <a:gridCol w="2103120">
                  <a:extLst>
                    <a:ext uri="{9D8B030D-6E8A-4147-A177-3AD203B41FA5}">
                      <a16:colId xmlns:a16="http://schemas.microsoft.com/office/drawing/2014/main" val="1059074004"/>
                    </a:ext>
                  </a:extLst>
                </a:gridCol>
                <a:gridCol w="2103120">
                  <a:extLst>
                    <a:ext uri="{9D8B030D-6E8A-4147-A177-3AD203B41FA5}">
                      <a16:colId xmlns:a16="http://schemas.microsoft.com/office/drawing/2014/main" val="1142295812"/>
                    </a:ext>
                  </a:extLst>
                </a:gridCol>
                <a:gridCol w="2103120">
                  <a:extLst>
                    <a:ext uri="{9D8B030D-6E8A-4147-A177-3AD203B41FA5}">
                      <a16:colId xmlns:a16="http://schemas.microsoft.com/office/drawing/2014/main" val="442286831"/>
                    </a:ext>
                  </a:extLst>
                </a:gridCol>
              </a:tblGrid>
              <a:tr h="370840">
                <a:tc>
                  <a:txBody>
                    <a:bodyPr/>
                    <a:lstStyle/>
                    <a:p>
                      <a:pPr marL="0" marR="0" indent="0" algn="ctr">
                        <a:lnSpc>
                          <a:spcPct val="107000"/>
                        </a:lnSpc>
                        <a:spcAft>
                          <a:spcPts val="265"/>
                        </a:spcAft>
                        <a:buNone/>
                      </a:pPr>
                      <a:r>
                        <a:rPr lang="en-US" sz="850" b="1" kern="100" dirty="0">
                          <a:solidFill>
                            <a:srgbClr val="FFFFFF"/>
                          </a:solidFill>
                          <a:effectLst/>
                          <a:latin typeface="Arial" panose="020B0604020202020204" pitchFamily="34" charset="0"/>
                          <a:ea typeface="Arial" panose="020B0604020202020204" pitchFamily="34" charset="0"/>
                          <a:cs typeface="Times New Roman" panose="02020603050405020304" pitchFamily="18" charset="0"/>
                        </a:rPr>
                        <a:t>Agency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Agency Name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Category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b="1" kern="100">
                          <a:solidFill>
                            <a:srgbClr val="FFFFFF"/>
                          </a:solidFill>
                          <a:effectLst/>
                          <a:latin typeface="Arial" panose="020B0604020202020204" pitchFamily="34" charset="0"/>
                          <a:ea typeface="Arial" panose="020B0604020202020204" pitchFamily="34" charset="0"/>
                          <a:cs typeface="Times New Roman" panose="02020603050405020304" pitchFamily="18" charset="0"/>
                        </a:rPr>
                        <a:t>Calls</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b="1" kern="100" dirty="0">
                          <a:solidFill>
                            <a:srgbClr val="FFFFFF"/>
                          </a:solidFill>
                          <a:effectLst/>
                          <a:latin typeface="Arial" panose="020B0604020202020204" pitchFamily="34" charset="0"/>
                          <a:ea typeface="Arial" panose="020B0604020202020204" pitchFamily="34" charset="0"/>
                          <a:cs typeface="Times New Roman" panose="02020603050405020304" pitchFamily="18" charset="0"/>
                        </a:rPr>
                        <a:t>% of Agency</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3066840041"/>
                  </a:ext>
                </a:extLst>
              </a:tr>
              <a:tr h="370840">
                <a:tc>
                  <a:txBody>
                    <a:bodyPr/>
                    <a:lstStyle/>
                    <a:p>
                      <a:pPr marL="0" marR="0"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COMP</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NYC Comptroller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2,004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98.43%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3146633362"/>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FDNY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Fire Dept. of New York</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1,891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97.68%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902654849"/>
                  </a:ext>
                </a:extLst>
              </a:tr>
              <a:tr h="370840">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NYCHA</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1905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NYC Housing Authority</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1,707</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tc>
                  <a:txBody>
                    <a:bodyPr/>
                    <a:lstStyle/>
                    <a:p>
                      <a:pPr marL="0" marR="0"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95.52%</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57150" marR="57150" marT="0" marB="0" anchor="ctr"/>
                </a:tc>
                <a:extLst>
                  <a:ext uri="{0D108BD9-81ED-4DB2-BD59-A6C34878D82A}">
                    <a16:rowId xmlns:a16="http://schemas.microsoft.com/office/drawing/2014/main" val="1625926265"/>
                  </a:ext>
                </a:extLst>
              </a:tr>
              <a:tr h="370840">
                <a:tc>
                  <a:txBody>
                    <a:bodyPr/>
                    <a:lstStyle/>
                    <a:p>
                      <a:pPr marL="0" marR="3175"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DOF</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Finance</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Unresolved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1,528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16.31%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4146393497"/>
                  </a:ext>
                </a:extLst>
              </a:tr>
              <a:tr h="370840">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HPD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Housing Preservation</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1,438</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62.33%</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905502725"/>
                  </a:ext>
                </a:extLst>
              </a:tr>
              <a:tr h="370840">
                <a:tc>
                  <a:txBody>
                    <a:bodyPr/>
                    <a:lstStyle/>
                    <a:p>
                      <a:pPr marL="52705" marR="0"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NYSDOH</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NYS Dept. of Health</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1,382</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97.19%</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758644813"/>
                  </a:ext>
                </a:extLst>
              </a:tr>
              <a:tr h="370840">
                <a:tc>
                  <a:txBody>
                    <a:bodyPr/>
                    <a:lstStyle/>
                    <a:p>
                      <a:pPr marL="0" marR="3175"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CJC</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Criminal Justice Coordinator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1,301</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98.34%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1207806290"/>
                  </a:ext>
                </a:extLst>
              </a:tr>
              <a:tr h="370840">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DOT</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of Transportation</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Unresolved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1,274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58.36%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456903589"/>
                  </a:ext>
                </a:extLst>
              </a:tr>
              <a:tr h="370840">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HRA</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Human Resources Admin.</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Unresolved</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1,186</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27.74%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1265066197"/>
                  </a:ext>
                </a:extLst>
              </a:tr>
              <a:tr h="370840">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DFTA</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0" indent="0" algn="l">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Dept. for the Aging</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Unknown/Other</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a:solidFill>
                            <a:srgbClr val="000000"/>
                          </a:solidFill>
                          <a:effectLst/>
                          <a:latin typeface="Arial" panose="020B0604020202020204" pitchFamily="34" charset="0"/>
                          <a:ea typeface="Arial" panose="020B0604020202020204" pitchFamily="34" charset="0"/>
                          <a:cs typeface="Times New Roman" panose="02020603050405020304" pitchFamily="18" charset="0"/>
                        </a:rPr>
                        <a:t>1,124</a:t>
                      </a:r>
                      <a:endParaRPr lang="en-US" sz="1000" kern="10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tc>
                  <a:txBody>
                    <a:bodyPr/>
                    <a:lstStyle/>
                    <a:p>
                      <a:pPr marL="0" marR="3175" indent="0" algn="ctr">
                        <a:lnSpc>
                          <a:spcPct val="107000"/>
                        </a:lnSpc>
                        <a:spcAft>
                          <a:spcPts val="265"/>
                        </a:spcAft>
                        <a:buNone/>
                      </a:pPr>
                      <a:r>
                        <a:rPr lang="en-US" sz="850" kern="100" dirty="0">
                          <a:solidFill>
                            <a:srgbClr val="000000"/>
                          </a:solidFill>
                          <a:effectLst/>
                          <a:latin typeface="Arial" panose="020B0604020202020204" pitchFamily="34" charset="0"/>
                          <a:ea typeface="Arial" panose="020B0604020202020204" pitchFamily="34" charset="0"/>
                          <a:cs typeface="Times New Roman" panose="02020603050405020304" pitchFamily="18" charset="0"/>
                        </a:rPr>
                        <a:t>88.71%</a:t>
                      </a:r>
                      <a:endParaRPr lang="en-US" sz="1000" kern="100" dirty="0">
                        <a:solidFill>
                          <a:srgbClr val="444444"/>
                        </a:solidFill>
                        <a:effectLst/>
                        <a:latin typeface="Arial" panose="020B0604020202020204" pitchFamily="34" charset="0"/>
                        <a:ea typeface="Arial" panose="020B0604020202020204" pitchFamily="34" charset="0"/>
                        <a:cs typeface="Times New Roman" panose="02020603050405020304" pitchFamily="18" charset="0"/>
                      </a:endParaRPr>
                    </a:p>
                  </a:txBody>
                  <a:tcPr marL="76200" marR="73025" marT="0" marB="0" anchor="ctr"/>
                </a:tc>
                <a:extLst>
                  <a:ext uri="{0D108BD9-81ED-4DB2-BD59-A6C34878D82A}">
                    <a16:rowId xmlns:a16="http://schemas.microsoft.com/office/drawing/2014/main" val="3166128965"/>
                  </a:ext>
                </a:extLst>
              </a:tr>
            </a:tbl>
          </a:graphicData>
        </a:graphic>
      </p:graphicFrame>
    </p:spTree>
    <p:extLst>
      <p:ext uri="{BB962C8B-B14F-4D97-AF65-F5344CB8AC3E}">
        <p14:creationId xmlns:p14="http://schemas.microsoft.com/office/powerpoint/2010/main" val="73720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F4770-5261-3933-CFE5-4CD622054453}"/>
              </a:ext>
            </a:extLst>
          </p:cNvPr>
          <p:cNvSpPr>
            <a:spLocks noGrp="1"/>
          </p:cNvSpPr>
          <p:nvPr>
            <p:ph type="title"/>
          </p:nvPr>
        </p:nvSpPr>
        <p:spPr/>
        <p:txBody>
          <a:bodyPr/>
          <a:lstStyle/>
          <a:p>
            <a:pPr algn="ctr"/>
            <a:r>
              <a:rPr lang="en-US" b="1" dirty="0">
                <a:solidFill>
                  <a:schemeClr val="bg1"/>
                </a:solidFill>
                <a:highlight>
                  <a:srgbClr val="009900"/>
                </a:highlight>
              </a:rPr>
              <a:t>Key Findings</a:t>
            </a:r>
            <a:br>
              <a:rPr lang="en-US" b="1" dirty="0">
                <a:solidFill>
                  <a:schemeClr val="bg1"/>
                </a:solidFill>
                <a:highlight>
                  <a:srgbClr val="009900"/>
                </a:highlight>
              </a:rPr>
            </a:br>
            <a:endParaRPr lang="en-US" dirty="0">
              <a:solidFill>
                <a:schemeClr val="bg1"/>
              </a:solidFill>
              <a:highlight>
                <a:srgbClr val="009900"/>
              </a:highlight>
            </a:endParaRPr>
          </a:p>
        </p:txBody>
      </p:sp>
      <p:sp>
        <p:nvSpPr>
          <p:cNvPr id="3" name="Content Placeholder 2">
            <a:extLst>
              <a:ext uri="{FF2B5EF4-FFF2-40B4-BE49-F238E27FC236}">
                <a16:creationId xmlns:a16="http://schemas.microsoft.com/office/drawing/2014/main" id="{1B7EA969-A2E2-061F-EB76-E0ABA669EFCF}"/>
              </a:ext>
            </a:extLst>
          </p:cNvPr>
          <p:cNvSpPr>
            <a:spLocks noGrp="1"/>
          </p:cNvSpPr>
          <p:nvPr>
            <p:ph idx="1"/>
          </p:nvPr>
        </p:nvSpPr>
        <p:spPr/>
        <p:txBody>
          <a:bodyPr>
            <a:normAutofit fontScale="40000" lnSpcReduction="20000"/>
          </a:bodyPr>
          <a:lstStyle/>
          <a:p>
            <a:r>
              <a:rPr lang="en-US" b="1" dirty="0"/>
              <a:t>High Overall Resolution Rate</a:t>
            </a:r>
            <a:endParaRPr lang="en-US" dirty="0"/>
          </a:p>
          <a:p>
            <a:r>
              <a:rPr lang="en-US" dirty="0"/>
              <a:t>More than half of all calls (52.74%) were fully resolved at first contact. This reflects positively on the general capability of the call </a:t>
            </a:r>
            <a:r>
              <a:rPr lang="en-US" dirty="0" err="1"/>
              <a:t>centre</a:t>
            </a:r>
            <a:r>
              <a:rPr lang="en-US" dirty="0"/>
              <a:t> agents and the routing systems in place.</a:t>
            </a:r>
          </a:p>
          <a:p>
            <a:r>
              <a:rPr lang="en-US" b="1" dirty="0"/>
              <a:t>Monday Morning Rush</a:t>
            </a:r>
            <a:endParaRPr lang="en-US" dirty="0"/>
          </a:p>
          <a:p>
            <a:r>
              <a:rPr lang="en-US" dirty="0"/>
              <a:t>Call volumes peak on Mondays, especially during the 11:00 AM hour. This pattern suggests callers accumulate queries over the weekend and act on them at the start of the week.</a:t>
            </a:r>
          </a:p>
          <a:p>
            <a:r>
              <a:rPr lang="en-US" b="1" dirty="0"/>
              <a:t>Midday is the Busiest Period</a:t>
            </a:r>
            <a:endParaRPr lang="en-US" dirty="0"/>
          </a:p>
          <a:p>
            <a:r>
              <a:rPr lang="en-US" dirty="0"/>
              <a:t>The hours between 9:00 AM and 3:00 PM account for the bulk of daily call traffic. Staffing levels should be highest during this window to maintain service quality.</a:t>
            </a:r>
          </a:p>
          <a:p>
            <a:r>
              <a:rPr lang="en-US" b="1" dirty="0"/>
              <a:t>DOF Handles the Most Calls — But Also Has High Unknown Outcomes</a:t>
            </a:r>
            <a:endParaRPr lang="en-US" dirty="0"/>
          </a:p>
          <a:p>
            <a:r>
              <a:rPr lang="en-US" dirty="0"/>
              <a:t>While the Department of Finance receives the most calls overall, it also appears prominently in the failed calls analysis with 83.69% of its recorded failure-category calls falling under 'Unknown/Other'. This warrants a data quality and process review.</a:t>
            </a:r>
          </a:p>
          <a:p>
            <a:r>
              <a:rPr lang="en-US" b="1" dirty="0"/>
              <a:t>Several Agencies Have Near-Total Unknown Resolution Rates</a:t>
            </a:r>
            <a:endParaRPr lang="en-US" dirty="0"/>
          </a:p>
          <a:p>
            <a:r>
              <a:rPr lang="en-US" dirty="0"/>
              <a:t>Agencies like the NYC Comptroller (98.43%), CJC (98.34%), and NYSDOH (97.19%) show that almost all their failure-category calls fall under 'Unknown/Other'. This may indicate a logging or classification issue rather than actual service failure.</a:t>
            </a:r>
          </a:p>
          <a:p>
            <a:r>
              <a:rPr lang="en-US" b="1" dirty="0"/>
              <a:t>3-1-1 Itself Has a 99.55% Unresolved Rate in the Failure Category</a:t>
            </a:r>
            <a:endParaRPr lang="en-US" dirty="0"/>
          </a:p>
          <a:p>
            <a:r>
              <a:rPr lang="en-US" dirty="0"/>
              <a:t>The 3-1-1 Call Center entry in the unresolved table is notable — with 2,883 calls marked as unresolved at</a:t>
            </a:r>
          </a:p>
          <a:p>
            <a:r>
              <a:rPr lang="en-US" dirty="0"/>
              <a:t>99.55% of their failure-category volume. This likely reflects calls that were not successfully routed.</a:t>
            </a:r>
          </a:p>
          <a:p>
            <a:r>
              <a:rPr lang="en-US" b="1" dirty="0"/>
              <a:t>Weekend Staffing Opportunity</a:t>
            </a:r>
            <a:endParaRPr lang="en-US" dirty="0"/>
          </a:p>
          <a:p>
            <a:r>
              <a:rPr lang="en-US" dirty="0"/>
              <a:t>Saturday and Sunday together account for roughly 500,000 calls — still a significant volume — yet are likely staffed at reduced levels. Reviewing weekend capacity could improve service levels.</a:t>
            </a:r>
          </a:p>
          <a:p>
            <a:endParaRPr lang="en-US" dirty="0"/>
          </a:p>
        </p:txBody>
      </p:sp>
    </p:spTree>
    <p:extLst>
      <p:ext uri="{BB962C8B-B14F-4D97-AF65-F5344CB8AC3E}">
        <p14:creationId xmlns:p14="http://schemas.microsoft.com/office/powerpoint/2010/main" val="291975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5E20F-2374-B1C9-E7E5-01C6DC0F6EA5}"/>
              </a:ext>
            </a:extLst>
          </p:cNvPr>
          <p:cNvSpPr>
            <a:spLocks noGrp="1"/>
          </p:cNvSpPr>
          <p:nvPr>
            <p:ph type="title"/>
          </p:nvPr>
        </p:nvSpPr>
        <p:spPr/>
        <p:txBody>
          <a:bodyPr/>
          <a:lstStyle/>
          <a:p>
            <a:pPr algn="ctr"/>
            <a:r>
              <a:rPr lang="en-US" b="1" dirty="0">
                <a:solidFill>
                  <a:schemeClr val="bg1"/>
                </a:solidFill>
                <a:highlight>
                  <a:srgbClr val="009900"/>
                </a:highlight>
              </a:rPr>
              <a:t>Recommendations</a:t>
            </a:r>
            <a:br>
              <a:rPr lang="en-US" b="1" dirty="0">
                <a:highlight>
                  <a:srgbClr val="009900"/>
                </a:highlight>
              </a:rPr>
            </a:br>
            <a:endParaRPr lang="en-US" dirty="0">
              <a:highlight>
                <a:srgbClr val="009900"/>
              </a:highlight>
            </a:endParaRPr>
          </a:p>
        </p:txBody>
      </p:sp>
      <p:sp>
        <p:nvSpPr>
          <p:cNvPr id="3" name="Content Placeholder 2">
            <a:extLst>
              <a:ext uri="{FF2B5EF4-FFF2-40B4-BE49-F238E27FC236}">
                <a16:creationId xmlns:a16="http://schemas.microsoft.com/office/drawing/2014/main" id="{F7696A7B-8956-1854-CC27-F8E9E7F75D57}"/>
              </a:ext>
            </a:extLst>
          </p:cNvPr>
          <p:cNvSpPr>
            <a:spLocks noGrp="1"/>
          </p:cNvSpPr>
          <p:nvPr>
            <p:ph idx="1"/>
          </p:nvPr>
        </p:nvSpPr>
        <p:spPr/>
        <p:txBody>
          <a:bodyPr>
            <a:normAutofit fontScale="70000" lnSpcReduction="20000"/>
          </a:bodyPr>
          <a:lstStyle/>
          <a:p>
            <a:r>
              <a:rPr lang="en-US" dirty="0"/>
              <a:t>Increase staffing between 9:00 AM and 3:00 PM on weekdays, especially Mondays, to handle peak call demand.</a:t>
            </a:r>
          </a:p>
          <a:p>
            <a:r>
              <a:rPr lang="en-US" dirty="0"/>
              <a:t>Review the 'Unknown/Other' resolution category with agency heads it may reflect gaps in call logging rather than genuine service failures.</a:t>
            </a:r>
          </a:p>
          <a:p>
            <a:r>
              <a:rPr lang="en-US" dirty="0"/>
              <a:t>Investigate the high unresolved rate at the 3-1-1 Call Center itself and address routing inefficiencies.</a:t>
            </a:r>
          </a:p>
          <a:p>
            <a:r>
              <a:rPr lang="en-US" dirty="0"/>
              <a:t>Conduct a targeted review of DOF(Department of Finance), DOHMH(Department of Health and Mental Hygiene), and DCA(Department of Consumer Affairs), which lead both in call volume and in unclassified failure outcomes.</a:t>
            </a:r>
          </a:p>
          <a:p>
            <a:r>
              <a:rPr lang="en-US" dirty="0"/>
              <a:t>Consider introducing self-service options (IVR or online) for high-frequency, repeatable query types to reduce call load.</a:t>
            </a:r>
          </a:p>
          <a:p>
            <a:r>
              <a:rPr lang="en-US" dirty="0"/>
              <a:t>Review weekend and evening staffing models given that 500,000 calls arrive on Saturdays and Sundays.</a:t>
            </a:r>
          </a:p>
          <a:p>
            <a:r>
              <a:rPr lang="en-US" dirty="0"/>
              <a:t>Implement stricter call resolution logging standards across agencies to reduce the 'Unknown/Other’ category in future datasets.</a:t>
            </a:r>
          </a:p>
          <a:p>
            <a:endParaRPr lang="en-US" dirty="0"/>
          </a:p>
        </p:txBody>
      </p:sp>
    </p:spTree>
    <p:extLst>
      <p:ext uri="{BB962C8B-B14F-4D97-AF65-F5344CB8AC3E}">
        <p14:creationId xmlns:p14="http://schemas.microsoft.com/office/powerpoint/2010/main" val="2340518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FA9E-F16A-D6BD-4E0A-F152D620D345}"/>
              </a:ext>
            </a:extLst>
          </p:cNvPr>
          <p:cNvSpPr>
            <a:spLocks noGrp="1"/>
          </p:cNvSpPr>
          <p:nvPr>
            <p:ph type="title"/>
          </p:nvPr>
        </p:nvSpPr>
        <p:spPr/>
        <p:txBody>
          <a:bodyPr/>
          <a:lstStyle/>
          <a:p>
            <a:pPr algn="ctr"/>
            <a:r>
              <a:rPr lang="en-US" b="1" dirty="0">
                <a:solidFill>
                  <a:schemeClr val="bg1"/>
                </a:solidFill>
                <a:highlight>
                  <a:srgbClr val="009900"/>
                </a:highlight>
              </a:rPr>
              <a:t>Conclusion</a:t>
            </a:r>
            <a:br>
              <a:rPr lang="en-US" b="1" dirty="0">
                <a:solidFill>
                  <a:schemeClr val="bg1"/>
                </a:solidFill>
                <a:highlight>
                  <a:srgbClr val="009900"/>
                </a:highlight>
              </a:rPr>
            </a:br>
            <a:endParaRPr lang="en-US" dirty="0">
              <a:solidFill>
                <a:schemeClr val="bg1"/>
              </a:solidFill>
              <a:highlight>
                <a:srgbClr val="009900"/>
              </a:highlight>
            </a:endParaRPr>
          </a:p>
        </p:txBody>
      </p:sp>
      <p:sp>
        <p:nvSpPr>
          <p:cNvPr id="3" name="Content Placeholder 2">
            <a:extLst>
              <a:ext uri="{FF2B5EF4-FFF2-40B4-BE49-F238E27FC236}">
                <a16:creationId xmlns:a16="http://schemas.microsoft.com/office/drawing/2014/main" id="{64C62B42-27DE-A3B1-6D97-282EB316BFE6}"/>
              </a:ext>
            </a:extLst>
          </p:cNvPr>
          <p:cNvSpPr>
            <a:spLocks noGrp="1"/>
          </p:cNvSpPr>
          <p:nvPr>
            <p:ph idx="1"/>
          </p:nvPr>
        </p:nvSpPr>
        <p:spPr/>
        <p:txBody>
          <a:bodyPr>
            <a:normAutofit fontScale="92500" lnSpcReduction="10000"/>
          </a:bodyPr>
          <a:lstStyle/>
          <a:p>
            <a:r>
              <a:rPr lang="en-US" dirty="0"/>
              <a:t>This SQL-driven analysis of the NYC 311 Call Centre dataset reveals a service operation of significant scale, handling over 3.29 million calls across 181 agencies. The overall resolution performance is commendable, with over half of all calls resolved at first contact.</a:t>
            </a:r>
          </a:p>
          <a:p>
            <a:r>
              <a:rPr lang="en-US" dirty="0"/>
              <a:t>However, the data also surfaces important areas for improvement particularly around call resolution classification, peak-hour staffing, and the performance of specific high-volume agencies. Addressing these areas through targeted operational changes and improved data governance will be key to raising service standards and citizen satisfaction.</a:t>
            </a:r>
          </a:p>
          <a:p>
            <a:r>
              <a:rPr lang="en-US" dirty="0"/>
              <a:t>Further analysis is recommended to explore trends over time, agent-level performance, and the relationship between call type and resolution outcome.</a:t>
            </a:r>
          </a:p>
          <a:p>
            <a:endParaRPr lang="en-US" dirty="0"/>
          </a:p>
        </p:txBody>
      </p:sp>
    </p:spTree>
    <p:extLst>
      <p:ext uri="{BB962C8B-B14F-4D97-AF65-F5344CB8AC3E}">
        <p14:creationId xmlns:p14="http://schemas.microsoft.com/office/powerpoint/2010/main" val="3922901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1635</Words>
  <Application>Microsoft Office PowerPoint</Application>
  <PresentationFormat>Widescreen</PresentationFormat>
  <Paragraphs>324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CALL CENTRE </vt:lpstr>
      <vt:lpstr>Executive Summary</vt:lpstr>
      <vt:lpstr>Key Performance Indicators</vt:lpstr>
      <vt:lpstr>Agency Performance — Top 10 Busiest Agencies</vt:lpstr>
      <vt:lpstr>Call Volume Patterns Calls by Day of the Week </vt:lpstr>
      <vt:lpstr>Calls by Month</vt:lpstr>
      <vt:lpstr>Top 10 Hours by Call Volume</vt:lpstr>
      <vt:lpstr>Call Resolution Analysis </vt:lpstr>
      <vt:lpstr>Agencies with the Most Failed / Unresolved Calls</vt:lpstr>
      <vt:lpstr>Agencies with the Most Failed / Unresolved Calls</vt:lpstr>
      <vt:lpstr>Key Findings </vt:lpstr>
      <vt:lpstr>Recommendations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Beatrice Wakonyo</dc:creator>
  <cp:lastModifiedBy>Beatrice Wakonyo</cp:lastModifiedBy>
  <cp:revision>1</cp:revision>
  <dcterms:created xsi:type="dcterms:W3CDTF">2026-03-28T19:25:02Z</dcterms:created>
  <dcterms:modified xsi:type="dcterms:W3CDTF">2026-03-28T20:50:49Z</dcterms:modified>
</cp:coreProperties>
</file>